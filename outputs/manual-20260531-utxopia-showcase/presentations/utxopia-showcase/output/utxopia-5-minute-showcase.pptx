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e64563ce81456a" /><Relationship Type="http://schemas.openxmlformats.org/officeDocument/2006/relationships/extended-properties" Target="/docProps/app.xml" Id="Rb5e44adccbc64499" /><Relationship Type="http://schemas.openxmlformats.org/officeDocument/2006/relationships/officeDocument" Target="/ppt/presentation.xml" Id="Rac16bac83284470d" /></Relationships>
</file>

<file path=ppt/presentation.xml><?xml version="1.0" encoding="utf-8"?>
<p:presentation xmlns:p="http://schemas.openxmlformats.org/presentationml/2006/main">
  <p:sldMasterIdLst>
    <p:sldMasterId xmlns:r="http://schemas.openxmlformats.org/officeDocument/2006/relationships" id="2147483648" r:id="R26fee381e373439d"/>
  </p:sldMasterIdLst>
  <p:notesMasterIdLst>
    <p:notesMasterId xmlns:r="http://schemas.openxmlformats.org/officeDocument/2006/relationships" r:id="R132e86342c1247ac"/>
  </p:notesMasterIdLst>
  <p:sldIdLst>
    <p:sldId xmlns:r="http://schemas.openxmlformats.org/officeDocument/2006/relationships" id="256" r:id="R8afa728de0154b60"/>
    <p:sldId xmlns:r="http://schemas.openxmlformats.org/officeDocument/2006/relationships" id="257" r:id="Rebff73462a8e4cb8"/>
    <p:sldId xmlns:r="http://schemas.openxmlformats.org/officeDocument/2006/relationships" id="258" r:id="R4e318a08e61049bb"/>
    <p:sldId xmlns:r="http://schemas.openxmlformats.org/officeDocument/2006/relationships" id="259" r:id="Re86d3cce92bd48c0"/>
    <p:sldId xmlns:r="http://schemas.openxmlformats.org/officeDocument/2006/relationships" id="260" r:id="R1910e7ee261b41a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26fee381e373439d" /><Relationship Type="http://schemas.openxmlformats.org/officeDocument/2006/relationships/theme" Target="/ppt/theme/theme1.xml" Id="R23efab47c3db4351" /><Relationship Type="http://schemas.openxmlformats.org/officeDocument/2006/relationships/notesMaster" Target="/ppt/notesMasters/notesMaster1.xml" Id="R132e86342c1247ac" /><Relationship Type="http://schemas.openxmlformats.org/officeDocument/2006/relationships/presProps" Target="/ppt/presProps.xml" Id="R190bd496be9f485c" /><Relationship Type="http://schemas.openxmlformats.org/officeDocument/2006/relationships/viewProps" Target="/ppt/viewProps.xml" Id="R79e92619a0c34001" /><Relationship Type="http://schemas.openxmlformats.org/officeDocument/2006/relationships/tableStyles" Target="/ppt/tableStyles.xml" Id="R714db7c278d74abf" /><Relationship Type="http://schemas.openxmlformats.org/officeDocument/2006/relationships/slide" Target="/ppt/slides/slide1.xml" Id="R8afa728de0154b60" /><Relationship Type="http://schemas.openxmlformats.org/officeDocument/2006/relationships/slide" Target="/ppt/slides/slide2.xml" Id="Rebff73462a8e4cb8" /><Relationship Type="http://schemas.openxmlformats.org/officeDocument/2006/relationships/slide" Target="/ppt/slides/slide3.xml" Id="R4e318a08e61049bb" /><Relationship Type="http://schemas.openxmlformats.org/officeDocument/2006/relationships/slide" Target="/ppt/slides/slide4.xml" Id="Re86d3cce92bd48c0" /><Relationship Type="http://schemas.openxmlformats.org/officeDocument/2006/relationships/slide" Target="/ppt/slides/slide5.xml" Id="R1910e7ee261b41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132b2d0dbd740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8ed86d90744827" /><Relationship Type="http://schemas.openxmlformats.org/officeDocument/2006/relationships/notesMaster" Target="/ppt/notesMasters/notesMaster1.xml" Id="R7c9ae91ec4b04e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131d2779d64a6d" /><Relationship Type="http://schemas.openxmlformats.org/officeDocument/2006/relationships/notesMaster" Target="/ppt/notesMasters/notesMaster1.xml" Id="R3fadfdaa537946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637e491ee84b57" /><Relationship Type="http://schemas.openxmlformats.org/officeDocument/2006/relationships/notesMaster" Target="/ppt/notesMasters/notesMaster1.xml" Id="Ra4fa0f074d6641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7759cbcd114395" /><Relationship Type="http://schemas.openxmlformats.org/officeDocument/2006/relationships/notesMaster" Target="/ppt/notesMasters/notesMaster1.xml" Id="R3cfff424cc7241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c624562c464e95" /><Relationship Type="http://schemas.openxmlformats.org/officeDocument/2006/relationships/notesMaster" Target="/ppt/notesMasters/notesMaster1.xml" Id="R4704b9df29b540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Open with the thesis: UTXOpia is not another public wrapped-token bridge. The user deposits BTC, the system creates shielded commitments, and transfers happen as ZK JoinSplits. The important promise is graph privacy after deposit. Mention that the same note model now has both Solana and Sui adapters, while being precise that Ika custody belongs to the Solana path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0:45-1:30. Frame the problem in one sentence: the hard part is not moving BTC into another execution environment; it is avoiding a public token graph once it gets there. Explain the contrast: normal bridges create a visible wrapped asset, while UTXOpia creates shielded notes. The on-chain system sees commitments and nullifiers, not a wallet-to-wallet payment 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1:30-2:30. Walk the audience left to right. The privacy core is shared: note format, nullifiers, Groth16 JoinSplit circuits, and scanning. Solana is the mature reference with the on-chain Ika policy gate. Sui is the new adapter: Move objects, PTBs, events, and dashboard/explorer support. Say clearly that Sui is not using Ika today; it demonstrates the chain adapter and private-note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2:30-4:00. Demo script: open the app, switch to Sui Hybrid or the configured Sui/regtest network, and show the dashboard counters. Open the wallet/vault view and show the utxo: recipient. Use the faucet to request a regtest BTC deposit; call out that this is the bug-fixed path where the active network is passed through, so it should not say current network=unknown. Then open the Explorer and show the resulting Sui events and commitments. If the faucet cannot run live or has already been used, show existing explorer rows and explain the flow from events to note scanning.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Close with proof, not promises. The current Sui sanity check has 34 events, 7 commitments, and 4 BTC deposit events for the configured package. The Solana side remains the reference for Ika-backed custody. The next milestones are production Sui signing, more complete live N-to-M demo coverage, and relayer hardening. End with the one-line takeaway from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dcd4d071c54d1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1cfed04a096a4d2f" /><Relationship Type="http://schemas.openxmlformats.org/officeDocument/2006/relationships/slideLayout" Target="/ppt/slideLayouts/slideLayout2.xml" Id="R96a3738326af44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a3738326af44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1c41123217b48e6" /><Relationship Type="http://schemas.openxmlformats.org/officeDocument/2006/relationships/notesSlide" Target="/ppt/notesSlides/notesSlide1.xml" Id="R3f0aaf524cb745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a6df274b4454233" /><Relationship Type="http://schemas.openxmlformats.org/officeDocument/2006/relationships/notesSlide" Target="/ppt/notesSlides/notesSlide2.xml" Id="R4f7ca6312c6c4a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a7772e447b241ba" /><Relationship Type="http://schemas.openxmlformats.org/officeDocument/2006/relationships/notesSlide" Target="/ppt/notesSlides/notesSlide3.xml" Id="Rb9ae3f3c729044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0c047dfcdb9408d" /><Relationship Type="http://schemas.openxmlformats.org/officeDocument/2006/relationships/notesSlide" Target="/ppt/notesSlides/notesSlide4.xml" Id="Ra1f1d1b5fcf549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27c2cd768454fec" /><Relationship Type="http://schemas.openxmlformats.org/officeDocument/2006/relationships/notesSlide" Target="/ppt/notesSlides/notesSlide5.xml" Id="R290d448c82de447e" /></Relationships>
</file>

<file path=ppt/slides/slide1.xml><?xml version="1.0" encoding="utf-8"?>
<p:sld xmlns:p="http://schemas.openxmlformats.org/presentationml/2006/main">
  <p:cSld>
    <p:bg>
      <p:bgPr>
        <a:solidFill xmlns:a="http://schemas.openxmlformats.org/drawingml/2006/main">
          <a:srgbClr val="0610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E21AB3-3D31-4C1D-AD60-E918B7EB81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sp>
      <p:sp>
        <p:nvSpPr>
          <p:cNvPr id="2" name="">
            <a:extLst xmlns:a="http://schemas.openxmlformats.org/drawingml/2006/main">
              <a:ext uri="{FF2B5EF4-FFF2-40B4-BE49-F238E27FC236}">
                <a16:creationId xmlns:a16="http://schemas.microsoft.com/office/drawing/2014/main" id="{2AAEDDD8-9B6C-4909-AE6E-E2605CAE0B7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3" name="">
            <a:extLst xmlns:a="http://schemas.openxmlformats.org/drawingml/2006/main">
              <a:ext uri="{FF2B5EF4-FFF2-40B4-BE49-F238E27FC236}">
                <a16:creationId xmlns:a16="http://schemas.microsoft.com/office/drawing/2014/main" id="{C4090A10-67A8-497B-90DA-009FBB1311D6}"/>
              </a:ext>
            </a:extLst>
          </p:cNvPr>
          <p:cNvSpPr>
            <a:spLocks xmlns:a="http://schemas.openxmlformats.org/drawingml/2006/main" noGrp="1"/>
          </p:cNvSpPr>
          <p:nvPr/>
        </p:nvSpPr>
        <p:spPr>
          <a:xfrm xmlns:a="http://schemas.openxmlformats.org/drawingml/2006/main">
            <a:off x="514350" y="323850"/>
            <a:ext cx="34290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38100" rIns="0" bIns="38100"/>
          <a:lstStyle xmlns:a="http://schemas.openxmlformats.org/drawingml/2006/main"/>
          <a:p xmlns:a="http://schemas.openxmlformats.org/drawingml/2006/main">
            <a:pPr algn="l">
              <a:defRPr sz="1050" b="1">
                <a:solidFill>
                  <a:srgbClr val="2EE59D"/>
                </a:solidFill>
                <a:latin typeface="Aptos"/>
                <a:ea typeface="Aptos"/>
                <a:cs typeface="Aptos"/>
              </a:defRPr>
            </a:pPr>
            <a:r>
              <a:rPr sz="1050" b="1">
                <a:solidFill>
                  <a:srgbClr val="2EE59D"/>
                </a:solidFill>
                <a:latin typeface="Aptos"/>
                <a:ea typeface="Aptos"/>
                <a:cs typeface="Aptos"/>
              </a:rPr>
              <a:t>UTXOPIA | PRIVATE BITCOIN SHOWCASE</a:t>
            </a:r>
          </a:p>
        </p:txBody>
      </p:sp>
      <p:sp>
        <p:nvSpPr>
          <p:cNvPr id="4" name="">
            <a:extLst xmlns:a="http://schemas.openxmlformats.org/drawingml/2006/main">
              <a:ext uri="{FF2B5EF4-FFF2-40B4-BE49-F238E27FC236}">
                <a16:creationId xmlns:a16="http://schemas.microsoft.com/office/drawing/2014/main" id="{2E1AADFC-E3E0-4FAB-8B29-ED30C929B6E4}"/>
              </a:ext>
            </a:extLst>
          </p:cNvPr>
          <p:cNvSpPr>
            <a:spLocks xmlns:a="http://schemas.openxmlformats.org/drawingml/2006/main" noGrp="1"/>
          </p:cNvSpPr>
          <p:nvPr/>
        </p:nvSpPr>
        <p:spPr>
          <a:xfrm xmlns:a="http://schemas.openxmlformats.org/drawingml/2006/main">
            <a:off x="514350" y="800100"/>
            <a:ext cx="6667500" cy="11049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3225" b="1">
                <a:solidFill>
                  <a:srgbClr val="F4FFF9"/>
                </a:solidFill>
                <a:latin typeface="Aptos Display"/>
                <a:ea typeface="Aptos Display"/>
                <a:cs typeface="Aptos Display"/>
              </a:defRPr>
            </a:pPr>
            <a:r>
              <a:rPr sz="3225" b="1">
                <a:solidFill>
                  <a:srgbClr val="F4FFF9"/>
                </a:solidFill>
                <a:latin typeface="Aptos Display"/>
                <a:ea typeface="Aptos Display"/>
                <a:cs typeface="Aptos Display"/>
              </a:rPr>
              <a:t>Private Bitcoin without public wrapped tokens</a:t>
            </a:r>
          </a:p>
        </p:txBody>
      </p:sp>
      <p:sp>
        <p:nvSpPr>
          <p:cNvPr id="5" name="">
            <a:extLst xmlns:a="http://schemas.openxmlformats.org/drawingml/2006/main">
              <a:ext uri="{FF2B5EF4-FFF2-40B4-BE49-F238E27FC236}">
                <a16:creationId xmlns:a16="http://schemas.microsoft.com/office/drawing/2014/main" id="{AEADF69D-CDA0-4D38-97E7-6223E1ADBD4B}"/>
              </a:ext>
            </a:extLst>
          </p:cNvPr>
          <p:cNvSpPr>
            <a:spLocks xmlns:a="http://schemas.openxmlformats.org/drawingml/2006/main" noGrp="1"/>
          </p:cNvSpPr>
          <p:nvPr/>
        </p:nvSpPr>
        <p:spPr>
          <a:xfrm xmlns:a="http://schemas.openxmlformats.org/drawingml/2006/main">
            <a:off x="533400" y="1952625"/>
            <a:ext cx="6762750" cy="7810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1575" b="0">
                <a:solidFill>
                  <a:srgbClr val="A7BDB3"/>
                </a:solidFill>
                <a:latin typeface="Aptos"/>
                <a:ea typeface="Aptos"/>
                <a:cs typeface="Aptos"/>
              </a:defRPr>
            </a:pPr>
            <a:r>
              <a:rPr sz="1575" b="0">
                <a:solidFill>
                  <a:srgbClr val="A7BDB3"/>
                </a:solidFill>
                <a:latin typeface="Aptos"/>
                <a:ea typeface="Aptos"/>
                <a:cs typeface="Aptos"/>
              </a:rPr>
              <a:t>BTC deposits become shielded commitments. Every transfer after deposit is a JoinSplit proof, and amounts are revealed only at withdrawal.</a:t>
            </a:r>
          </a:p>
        </p:txBody>
      </p:sp>
      <p:sp>
        <p:nvSpPr>
          <p:cNvPr id="6" name="">
            <a:extLst xmlns:a="http://schemas.openxmlformats.org/drawingml/2006/main">
              <a:ext uri="{FF2B5EF4-FFF2-40B4-BE49-F238E27FC236}">
                <a16:creationId xmlns:a16="http://schemas.microsoft.com/office/drawing/2014/main" id="{090B02A2-6ED0-423E-B24A-A22E6FE0407A}"/>
              </a:ext>
            </a:extLst>
          </p:cNvPr>
          <p:cNvSpPr>
            <a:spLocks xmlns:a="http://schemas.openxmlformats.org/drawingml/2006/main" noGrp="1"/>
          </p:cNvSpPr>
          <p:nvPr/>
        </p:nvSpPr>
        <p:spPr>
          <a:xfrm xmlns:a="http://schemas.openxmlformats.org/drawingml/2006/main">
            <a:off x="609600" y="3048000"/>
            <a:ext cx="1200150" cy="323850"/>
          </a:xfrm>
          <a:prstGeom xmlns:a="http://schemas.openxmlformats.org/drawingml/2006/main" prst="rect">
            <a:avLst/>
          </a:prstGeom>
          <a:solidFill xmlns:a="http://schemas.openxmlformats.org/drawingml/2006/main">
            <a:srgbClr val="132923"/>
          </a:solidFill>
          <a:ln xmlns:a="http://schemas.openxmlformats.org/drawingml/2006/main" w="9525">
            <a:solidFill>
              <a:srgbClr val="FFB45C"/>
            </a:solidFill>
          </a:ln>
        </p:spPr>
        <p:txBody>
          <a:bodyPr xmlns:a="http://schemas.openxmlformats.org/drawingml/2006/main" lIns="95250" tIns="66675" rIns="95250" bIns="66675"/>
          <a:lstStyle xmlns:a="http://schemas.openxmlformats.org/drawingml/2006/main"/>
          <a:p xmlns:a="http://schemas.openxmlformats.org/drawingml/2006/main">
            <a:pPr algn="ctr">
              <a:defRPr sz="1050" b="1">
                <a:solidFill>
                  <a:srgbClr val="FFB45C"/>
                </a:solidFill>
                <a:latin typeface="Aptos"/>
                <a:ea typeface="Aptos"/>
                <a:cs typeface="Aptos"/>
              </a:defRPr>
            </a:pPr>
            <a:r>
              <a:rPr sz="1050" b="1">
                <a:solidFill>
                  <a:srgbClr val="FFB45C"/>
                </a:solidFill>
                <a:latin typeface="Aptos"/>
                <a:ea typeface="Aptos"/>
                <a:cs typeface="Aptos"/>
              </a:rPr>
              <a:t>BTC deposit</a:t>
            </a:r>
          </a:p>
        </p:txBody>
      </p:sp>
      <p:sp>
        <p:nvSpPr>
          <p:cNvPr id="7" name="">
            <a:extLst xmlns:a="http://schemas.openxmlformats.org/drawingml/2006/main">
              <a:ext uri="{FF2B5EF4-FFF2-40B4-BE49-F238E27FC236}">
                <a16:creationId xmlns:a16="http://schemas.microsoft.com/office/drawing/2014/main" id="{B90CBE54-B003-494E-A346-D2882A4AB521}"/>
              </a:ext>
            </a:extLst>
          </p:cNvPr>
          <p:cNvSpPr>
            <a:spLocks xmlns:a="http://schemas.openxmlformats.org/drawingml/2006/main" noGrp="1"/>
          </p:cNvSpPr>
          <p:nvPr/>
        </p:nvSpPr>
        <p:spPr>
          <a:xfrm xmlns:a="http://schemas.openxmlformats.org/drawingml/2006/main">
            <a:off x="1905000" y="3200400"/>
            <a:ext cx="990600" cy="38100"/>
          </a:xfrm>
          <a:prstGeom xmlns:a="http://schemas.openxmlformats.org/drawingml/2006/main" prst="rect">
            <a:avLst/>
          </a:prstGeom>
          <a:solidFill xmlns:a="http://schemas.openxmlformats.org/drawingml/2006/main">
            <a:srgbClr val="24483B"/>
          </a:solidFill>
          <a:ln xmlns:a="http://schemas.openxmlformats.org/drawingml/2006/main" w="0">
            <a:solidFill>
              <a:srgbClr val="24483B"/>
            </a:solidFill>
          </a:ln>
        </p:spPr>
      </p:sp>
      <p:sp>
        <p:nvSpPr>
          <p:cNvPr id="8" name="">
            <a:extLst xmlns:a="http://schemas.openxmlformats.org/drawingml/2006/main">
              <a:ext uri="{FF2B5EF4-FFF2-40B4-BE49-F238E27FC236}">
                <a16:creationId xmlns:a16="http://schemas.microsoft.com/office/drawing/2014/main" id="{617B2091-7243-4601-8130-B5D3D9C3CD0D}"/>
              </a:ext>
            </a:extLst>
          </p:cNvPr>
          <p:cNvSpPr>
            <a:spLocks xmlns:a="http://schemas.openxmlformats.org/drawingml/2006/main" noGrp="1"/>
          </p:cNvSpPr>
          <p:nvPr/>
        </p:nvSpPr>
        <p:spPr>
          <a:xfrm xmlns:a="http://schemas.openxmlformats.org/drawingml/2006/main">
            <a:off x="2990850" y="3048000"/>
            <a:ext cx="1657350" cy="323850"/>
          </a:xfrm>
          <a:prstGeom xmlns:a="http://schemas.openxmlformats.org/drawingml/2006/main" prst="rect">
            <a:avLst/>
          </a:prstGeom>
          <a:solidFill xmlns:a="http://schemas.openxmlformats.org/drawingml/2006/main">
            <a:srgbClr val="132923"/>
          </a:solidFill>
          <a:ln xmlns:a="http://schemas.openxmlformats.org/drawingml/2006/main" w="9525">
            <a:solidFill>
              <a:srgbClr val="2EE59D"/>
            </a:solidFill>
          </a:ln>
        </p:spPr>
        <p:txBody>
          <a:bodyPr xmlns:a="http://schemas.openxmlformats.org/drawingml/2006/main" lIns="95250" tIns="66675" rIns="95250" bIns="66675"/>
          <a:lstStyle xmlns:a="http://schemas.openxmlformats.org/drawingml/2006/main"/>
          <a:p xmlns:a="http://schemas.openxmlformats.org/drawingml/2006/main">
            <a:pPr algn="ctr">
              <a:defRPr sz="1050" b="1">
                <a:solidFill>
                  <a:srgbClr val="2EE59D"/>
                </a:solidFill>
                <a:latin typeface="Aptos"/>
                <a:ea typeface="Aptos"/>
                <a:cs typeface="Aptos"/>
              </a:defRPr>
            </a:pPr>
            <a:r>
              <a:rPr sz="1050" b="1">
                <a:solidFill>
                  <a:srgbClr val="2EE59D"/>
                </a:solidFill>
                <a:latin typeface="Aptos"/>
                <a:ea typeface="Aptos"/>
                <a:cs typeface="Aptos"/>
              </a:rPr>
              <a:t>Commitment tree</a:t>
            </a:r>
          </a:p>
        </p:txBody>
      </p:sp>
      <p:sp>
        <p:nvSpPr>
          <p:cNvPr id="9" name="">
            <a:extLst xmlns:a="http://schemas.openxmlformats.org/drawingml/2006/main">
              <a:ext uri="{FF2B5EF4-FFF2-40B4-BE49-F238E27FC236}">
                <a16:creationId xmlns:a16="http://schemas.microsoft.com/office/drawing/2014/main" id="{D84BE206-A7FF-49B3-9B72-78AA1ADE597A}"/>
              </a:ext>
            </a:extLst>
          </p:cNvPr>
          <p:cNvSpPr>
            <a:spLocks xmlns:a="http://schemas.openxmlformats.org/drawingml/2006/main" noGrp="1"/>
          </p:cNvSpPr>
          <p:nvPr/>
        </p:nvSpPr>
        <p:spPr>
          <a:xfrm xmlns:a="http://schemas.openxmlformats.org/drawingml/2006/main">
            <a:off x="4743450" y="3200400"/>
            <a:ext cx="990600" cy="38100"/>
          </a:xfrm>
          <a:prstGeom xmlns:a="http://schemas.openxmlformats.org/drawingml/2006/main" prst="rect">
            <a:avLst/>
          </a:prstGeom>
          <a:solidFill xmlns:a="http://schemas.openxmlformats.org/drawingml/2006/main">
            <a:srgbClr val="24483B"/>
          </a:solidFill>
          <a:ln xmlns:a="http://schemas.openxmlformats.org/drawingml/2006/main" w="0">
            <a:solidFill>
              <a:srgbClr val="24483B"/>
            </a:solidFill>
          </a:ln>
        </p:spPr>
      </p:sp>
      <p:sp>
        <p:nvSpPr>
          <p:cNvPr id="10" name="">
            <a:extLst xmlns:a="http://schemas.openxmlformats.org/drawingml/2006/main">
              <a:ext uri="{FF2B5EF4-FFF2-40B4-BE49-F238E27FC236}">
                <a16:creationId xmlns:a16="http://schemas.microsoft.com/office/drawing/2014/main" id="{74A013E6-B9DF-47A6-8604-7CCB4BED05FE}"/>
              </a:ext>
            </a:extLst>
          </p:cNvPr>
          <p:cNvSpPr>
            <a:spLocks xmlns:a="http://schemas.openxmlformats.org/drawingml/2006/main" noGrp="1"/>
          </p:cNvSpPr>
          <p:nvPr/>
        </p:nvSpPr>
        <p:spPr>
          <a:xfrm xmlns:a="http://schemas.openxmlformats.org/drawingml/2006/main">
            <a:off x="5829300" y="3048000"/>
            <a:ext cx="1543050" cy="323850"/>
          </a:xfrm>
          <a:prstGeom xmlns:a="http://schemas.openxmlformats.org/drawingml/2006/main" prst="rect">
            <a:avLst/>
          </a:prstGeom>
          <a:solidFill xmlns:a="http://schemas.openxmlformats.org/drawingml/2006/main">
            <a:srgbClr val="132923"/>
          </a:solidFill>
          <a:ln xmlns:a="http://schemas.openxmlformats.org/drawingml/2006/main" w="9525">
            <a:solidFill>
              <a:srgbClr val="6BC7FF"/>
            </a:solidFill>
          </a:ln>
        </p:spPr>
        <p:txBody>
          <a:bodyPr xmlns:a="http://schemas.openxmlformats.org/drawingml/2006/main" lIns="95250" tIns="66675" rIns="95250" bIns="66675"/>
          <a:lstStyle xmlns:a="http://schemas.openxmlformats.org/drawingml/2006/main"/>
          <a:p xmlns:a="http://schemas.openxmlformats.org/drawingml/2006/main">
            <a:pPr algn="ctr">
              <a:defRPr sz="1050" b="1">
                <a:solidFill>
                  <a:srgbClr val="6BC7FF"/>
                </a:solidFill>
                <a:latin typeface="Aptos"/>
                <a:ea typeface="Aptos"/>
                <a:cs typeface="Aptos"/>
              </a:defRPr>
            </a:pPr>
            <a:r>
              <a:rPr sz="1050" b="1">
                <a:solidFill>
                  <a:srgbClr val="6BC7FF"/>
                </a:solidFill>
                <a:latin typeface="Aptos"/>
                <a:ea typeface="Aptos"/>
                <a:cs typeface="Aptos"/>
              </a:rPr>
              <a:t>JoinSplit proof</a:t>
            </a:r>
          </a:p>
        </p:txBody>
      </p:sp>
      <p:sp>
        <p:nvSpPr>
          <p:cNvPr id="11" name="">
            <a:extLst xmlns:a="http://schemas.openxmlformats.org/drawingml/2006/main">
              <a:ext uri="{FF2B5EF4-FFF2-40B4-BE49-F238E27FC236}">
                <a16:creationId xmlns:a16="http://schemas.microsoft.com/office/drawing/2014/main" id="{C9003734-CB46-4BC6-B5E3-C9C5D37A31C4}"/>
              </a:ext>
            </a:extLst>
          </p:cNvPr>
          <p:cNvSpPr>
            <a:spLocks xmlns:a="http://schemas.openxmlformats.org/drawingml/2006/main" noGrp="1"/>
          </p:cNvSpPr>
          <p:nvPr/>
        </p:nvSpPr>
        <p:spPr>
          <a:xfrm xmlns:a="http://schemas.openxmlformats.org/drawingml/2006/main">
            <a:off x="7467600" y="3200400"/>
            <a:ext cx="990600" cy="38100"/>
          </a:xfrm>
          <a:prstGeom xmlns:a="http://schemas.openxmlformats.org/drawingml/2006/main" prst="rect">
            <a:avLst/>
          </a:prstGeom>
          <a:solidFill xmlns:a="http://schemas.openxmlformats.org/drawingml/2006/main">
            <a:srgbClr val="24483B"/>
          </a:solidFill>
          <a:ln xmlns:a="http://schemas.openxmlformats.org/drawingml/2006/main" w="0">
            <a:solidFill>
              <a:srgbClr val="24483B"/>
            </a:solidFill>
          </a:ln>
        </p:spPr>
      </p:sp>
      <p:sp>
        <p:nvSpPr>
          <p:cNvPr id="12" name="">
            <a:extLst xmlns:a="http://schemas.openxmlformats.org/drawingml/2006/main">
              <a:ext uri="{FF2B5EF4-FFF2-40B4-BE49-F238E27FC236}">
                <a16:creationId xmlns:a16="http://schemas.microsoft.com/office/drawing/2014/main" id="{4D0F39F6-DEFC-45B2-A0E5-98B526BDDCD9}"/>
              </a:ext>
            </a:extLst>
          </p:cNvPr>
          <p:cNvSpPr>
            <a:spLocks xmlns:a="http://schemas.openxmlformats.org/drawingml/2006/main" noGrp="1"/>
          </p:cNvSpPr>
          <p:nvPr/>
        </p:nvSpPr>
        <p:spPr>
          <a:xfrm xmlns:a="http://schemas.openxmlformats.org/drawingml/2006/main">
            <a:off x="8553450" y="3048000"/>
            <a:ext cx="1524000" cy="323850"/>
          </a:xfrm>
          <a:prstGeom xmlns:a="http://schemas.openxmlformats.org/drawingml/2006/main" prst="rect">
            <a:avLst/>
          </a:prstGeom>
          <a:solidFill xmlns:a="http://schemas.openxmlformats.org/drawingml/2006/main">
            <a:srgbClr val="132923"/>
          </a:solidFill>
          <a:ln xmlns:a="http://schemas.openxmlformats.org/drawingml/2006/main" w="9525">
            <a:solidFill>
              <a:srgbClr val="FFB45C"/>
            </a:solidFill>
          </a:ln>
        </p:spPr>
        <p:txBody>
          <a:bodyPr xmlns:a="http://schemas.openxmlformats.org/drawingml/2006/main" lIns="95250" tIns="66675" rIns="95250" bIns="66675"/>
          <a:lstStyle xmlns:a="http://schemas.openxmlformats.org/drawingml/2006/main"/>
          <a:p xmlns:a="http://schemas.openxmlformats.org/drawingml/2006/main">
            <a:pPr algn="ctr">
              <a:defRPr sz="1050" b="1">
                <a:solidFill>
                  <a:srgbClr val="FFB45C"/>
                </a:solidFill>
                <a:latin typeface="Aptos"/>
                <a:ea typeface="Aptos"/>
                <a:cs typeface="Aptos"/>
              </a:defRPr>
            </a:pPr>
            <a:r>
              <a:rPr sz="1050" b="1">
                <a:solidFill>
                  <a:srgbClr val="FFB45C"/>
                </a:solidFill>
                <a:latin typeface="Aptos"/>
                <a:ea typeface="Aptos"/>
                <a:cs typeface="Aptos"/>
              </a:rPr>
              <a:t>BTC withdrawal</a:t>
            </a:r>
          </a:p>
        </p:txBody>
      </p:sp>
      <p:sp>
        <p:nvSpPr>
          <p:cNvPr id="13" name="">
            <a:extLst xmlns:a="http://schemas.openxmlformats.org/drawingml/2006/main">
              <a:ext uri="{FF2B5EF4-FFF2-40B4-BE49-F238E27FC236}">
                <a16:creationId xmlns:a16="http://schemas.microsoft.com/office/drawing/2014/main" id="{7565A38F-9931-4007-8E88-B537BACB7912}"/>
              </a:ext>
            </a:extLst>
          </p:cNvPr>
          <p:cNvSpPr>
            <a:spLocks xmlns:a="http://schemas.openxmlformats.org/drawingml/2006/main" noGrp="1"/>
          </p:cNvSpPr>
          <p:nvPr/>
        </p:nvSpPr>
        <p:spPr>
          <a:xfrm xmlns:a="http://schemas.openxmlformats.org/drawingml/2006/main">
            <a:off x="7467600" y="781050"/>
            <a:ext cx="3714750" cy="16954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4" name="">
            <a:extLst xmlns:a="http://schemas.openxmlformats.org/drawingml/2006/main">
              <a:ext uri="{FF2B5EF4-FFF2-40B4-BE49-F238E27FC236}">
                <a16:creationId xmlns:a16="http://schemas.microsoft.com/office/drawing/2014/main" id="{1D757391-2414-4FC3-ADDA-040CA86797FC}"/>
              </a:ext>
            </a:extLst>
          </p:cNvPr>
          <p:cNvSpPr>
            <a:spLocks xmlns:a="http://schemas.openxmlformats.org/drawingml/2006/main" noGrp="1"/>
          </p:cNvSpPr>
          <p:nvPr/>
        </p:nvSpPr>
        <p:spPr>
          <a:xfrm xmlns:a="http://schemas.openxmlformats.org/drawingml/2006/main">
            <a:off x="7734300" y="1047750"/>
            <a:ext cx="295275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76200" tIns="57150" rIns="76200" bIns="57150"/>
          <a:lstStyle xmlns:a="http://schemas.openxmlformats.org/drawingml/2006/main"/>
          <a:p xmlns:a="http://schemas.openxmlformats.org/drawingml/2006/main">
            <a:pPr algn="l">
              <a:defRPr sz="1650" b="1">
                <a:solidFill>
                  <a:srgbClr val="F4FFF9"/>
                </a:solidFill>
                <a:latin typeface="Aptos"/>
                <a:ea typeface="Aptos"/>
                <a:cs typeface="Aptos"/>
              </a:defRPr>
            </a:pPr>
            <a:r>
              <a:rPr sz="1650" b="1">
                <a:solidFill>
                  <a:srgbClr val="F4FFF9"/>
                </a:solidFill>
                <a:latin typeface="Aptos"/>
                <a:ea typeface="Aptos"/>
                <a:cs typeface="Aptos"/>
              </a:rPr>
              <a:t>One privacy model</a:t>
            </a:r>
          </a:p>
        </p:txBody>
      </p:sp>
      <p:sp>
        <p:nvSpPr>
          <p:cNvPr id="15" name="">
            <a:extLst xmlns:a="http://schemas.openxmlformats.org/drawingml/2006/main">
              <a:ext uri="{FF2B5EF4-FFF2-40B4-BE49-F238E27FC236}">
                <a16:creationId xmlns:a16="http://schemas.microsoft.com/office/drawing/2014/main" id="{29F737BA-911D-4719-8E9D-7BE6A21663B5}"/>
              </a:ext>
            </a:extLst>
          </p:cNvPr>
          <p:cNvSpPr>
            <a:spLocks xmlns:a="http://schemas.openxmlformats.org/drawingml/2006/main" noGrp="1"/>
          </p:cNvSpPr>
          <p:nvPr/>
        </p:nvSpPr>
        <p:spPr>
          <a:xfrm xmlns:a="http://schemas.openxmlformats.org/drawingml/2006/main">
            <a:off x="7734300" y="1466850"/>
            <a:ext cx="3048000" cy="8382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76200" tIns="57150" rIns="76200" bIns="57150"/>
          <a:lstStyle xmlns:a="http://schemas.openxmlformats.org/drawingml/2006/main"/>
          <a:p xmlns:a="http://schemas.openxmlformats.org/drawingml/2006/main">
            <a:pPr algn="l">
              <a:defRPr sz="1275" b="0">
                <a:solidFill>
                  <a:srgbClr val="A7BDB3"/>
                </a:solidFill>
                <a:latin typeface="Aptos"/>
                <a:ea typeface="Aptos"/>
                <a:cs typeface="Aptos"/>
              </a:defRPr>
            </a:pPr>
            <a:r>
              <a:rPr sz="1275" b="0">
                <a:solidFill>
                  <a:srgbClr val="A7BDB3"/>
                </a:solidFill>
                <a:latin typeface="Aptos"/>
                <a:ea typeface="Aptos"/>
                <a:cs typeface="Aptos"/>
              </a:rPr>
              <a:t>Solana reference deployment</a:t>
            </a:r>
          </a:p>
          <a:p xmlns:a="http://schemas.openxmlformats.org/drawingml/2006/main">
            <a:pPr algn="l">
              <a:defRPr sz="1275" b="0">
                <a:solidFill>
                  <a:srgbClr val="A7BDB3"/>
                </a:solidFill>
                <a:latin typeface="Aptos"/>
                <a:ea typeface="Aptos"/>
                <a:cs typeface="Aptos"/>
              </a:defRPr>
            </a:pPr>
            <a:r>
              <a:rPr sz="1275" b="0">
                <a:solidFill>
                  <a:srgbClr val="A7BDB3"/>
                </a:solidFill>
                <a:latin typeface="Aptos"/>
                <a:ea typeface="Aptos"/>
                <a:cs typeface="Aptos"/>
              </a:rPr>
              <a:t>Sui Move adapter now in the flow</a:t>
            </a:r>
          </a:p>
          <a:p xmlns:a="http://schemas.openxmlformats.org/drawingml/2006/main">
            <a:pPr algn="l">
              <a:defRPr sz="1275" b="0">
                <a:solidFill>
                  <a:srgbClr val="A7BDB3"/>
                </a:solidFill>
                <a:latin typeface="Aptos"/>
                <a:ea typeface="Aptos"/>
                <a:cs typeface="Aptos"/>
              </a:defRPr>
            </a:pPr>
            <a:r>
              <a:rPr sz="1275" b="0">
                <a:solidFill>
                  <a:srgbClr val="A7BDB3"/>
                </a:solidFill>
                <a:latin typeface="Aptos"/>
                <a:ea typeface="Aptos"/>
                <a:cs typeface="Aptos"/>
              </a:rPr>
              <a:t>Shared SDK/circuits/BTC verifier path</a:t>
            </a:r>
          </a:p>
        </p:txBody>
      </p:sp>
      <p:sp>
        <p:nvSpPr>
          <p:cNvPr id="16" name="">
            <a:extLst xmlns:a="http://schemas.openxmlformats.org/drawingml/2006/main">
              <a:ext uri="{FF2B5EF4-FFF2-40B4-BE49-F238E27FC236}">
                <a16:creationId xmlns:a16="http://schemas.microsoft.com/office/drawing/2014/main" id="{E567D7F3-1ED7-48C7-8B1C-8DE8F19A9125}"/>
              </a:ext>
            </a:extLst>
          </p:cNvPr>
          <p:cNvSpPr>
            <a:spLocks xmlns:a="http://schemas.openxmlformats.org/drawingml/2006/main" noGrp="1"/>
          </p:cNvSpPr>
          <p:nvPr/>
        </p:nvSpPr>
        <p:spPr>
          <a:xfrm xmlns:a="http://schemas.openxmlformats.org/drawingml/2006/main">
            <a:off x="609600" y="4229100"/>
            <a:ext cx="5010150" cy="121920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7" name="">
            <a:extLst xmlns:a="http://schemas.openxmlformats.org/drawingml/2006/main">
              <a:ext uri="{FF2B5EF4-FFF2-40B4-BE49-F238E27FC236}">
                <a16:creationId xmlns:a16="http://schemas.microsoft.com/office/drawing/2014/main" id="{52958C06-51E6-4D7D-B6FE-3E75C65D352D}"/>
              </a:ext>
            </a:extLst>
          </p:cNvPr>
          <p:cNvSpPr>
            <a:spLocks xmlns:a="http://schemas.openxmlformats.org/drawingml/2006/main" noGrp="1"/>
          </p:cNvSpPr>
          <p:nvPr/>
        </p:nvSpPr>
        <p:spPr>
          <a:xfrm xmlns:a="http://schemas.openxmlformats.org/drawingml/2006/main">
            <a:off x="609600" y="4229100"/>
            <a:ext cx="57150" cy="12192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18" name="">
            <a:extLst xmlns:a="http://schemas.openxmlformats.org/drawingml/2006/main">
              <a:ext uri="{FF2B5EF4-FFF2-40B4-BE49-F238E27FC236}">
                <a16:creationId xmlns:a16="http://schemas.microsoft.com/office/drawing/2014/main" id="{79E39D6D-1798-4B87-BBFD-10B1684F4698}"/>
              </a:ext>
            </a:extLst>
          </p:cNvPr>
          <p:cNvSpPr>
            <a:spLocks xmlns:a="http://schemas.openxmlformats.org/drawingml/2006/main" noGrp="1"/>
          </p:cNvSpPr>
          <p:nvPr/>
        </p:nvSpPr>
        <p:spPr>
          <a:xfrm xmlns:a="http://schemas.openxmlformats.org/drawingml/2006/main">
            <a:off x="819150" y="4400550"/>
            <a:ext cx="464820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Showcase promise</a:t>
            </a:r>
          </a:p>
        </p:txBody>
      </p:sp>
      <p:sp>
        <p:nvSpPr>
          <p:cNvPr id="19" name="">
            <a:extLst xmlns:a="http://schemas.openxmlformats.org/drawingml/2006/main">
              <a:ext uri="{FF2B5EF4-FFF2-40B4-BE49-F238E27FC236}">
                <a16:creationId xmlns:a16="http://schemas.microsoft.com/office/drawing/2014/main" id="{7F4CA6B9-FC8C-4E89-AB33-21D614069726}"/>
              </a:ext>
            </a:extLst>
          </p:cNvPr>
          <p:cNvSpPr>
            <a:spLocks xmlns:a="http://schemas.openxmlformats.org/drawingml/2006/main" noGrp="1"/>
          </p:cNvSpPr>
          <p:nvPr/>
        </p:nvSpPr>
        <p:spPr>
          <a:xfrm xmlns:a="http://schemas.openxmlformats.org/drawingml/2006/main">
            <a:off x="819150" y="4781550"/>
            <a:ext cx="4648200" cy="5524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In five minutes: the privacy problem, the architecture, and a live Sui Hybrid faucet -&gt; commitment -&gt; private transfer path.</a:t>
            </a:r>
          </a:p>
        </p:txBody>
      </p:sp>
      <p:sp>
        <p:nvSpPr>
          <p:cNvPr id="20" name="">
            <a:extLst xmlns:a="http://schemas.openxmlformats.org/drawingml/2006/main">
              <a:ext uri="{FF2B5EF4-FFF2-40B4-BE49-F238E27FC236}">
                <a16:creationId xmlns:a16="http://schemas.microsoft.com/office/drawing/2014/main" id="{D77883B8-F77C-4E2D-8F34-FB740D5D0675}"/>
              </a:ext>
            </a:extLst>
          </p:cNvPr>
          <p:cNvSpPr>
            <a:spLocks xmlns:a="http://schemas.openxmlformats.org/drawingml/2006/main" noGrp="1"/>
          </p:cNvSpPr>
          <p:nvPr/>
        </p:nvSpPr>
        <p:spPr>
          <a:xfrm xmlns:a="http://schemas.openxmlformats.org/drawingml/2006/main">
            <a:off x="5962650" y="4229100"/>
            <a:ext cx="4914900" cy="121920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21" name="">
            <a:extLst xmlns:a="http://schemas.openxmlformats.org/drawingml/2006/main">
              <a:ext uri="{FF2B5EF4-FFF2-40B4-BE49-F238E27FC236}">
                <a16:creationId xmlns:a16="http://schemas.microsoft.com/office/drawing/2014/main" id="{F0BF1C9C-33E2-4C23-ADEA-6CA0F4EBEB8A}"/>
              </a:ext>
            </a:extLst>
          </p:cNvPr>
          <p:cNvSpPr>
            <a:spLocks xmlns:a="http://schemas.openxmlformats.org/drawingml/2006/main" noGrp="1"/>
          </p:cNvSpPr>
          <p:nvPr/>
        </p:nvSpPr>
        <p:spPr>
          <a:xfrm xmlns:a="http://schemas.openxmlformats.org/drawingml/2006/main">
            <a:off x="5962650" y="4229100"/>
            <a:ext cx="57150" cy="121920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sp>
      <p:sp>
        <p:nvSpPr>
          <p:cNvPr id="22" name="">
            <a:extLst xmlns:a="http://schemas.openxmlformats.org/drawingml/2006/main">
              <a:ext uri="{FF2B5EF4-FFF2-40B4-BE49-F238E27FC236}">
                <a16:creationId xmlns:a16="http://schemas.microsoft.com/office/drawing/2014/main" id="{8F80293D-BE63-417A-BD71-9ED0B72A003B}"/>
              </a:ext>
            </a:extLst>
          </p:cNvPr>
          <p:cNvSpPr>
            <a:spLocks xmlns:a="http://schemas.openxmlformats.org/drawingml/2006/main" noGrp="1"/>
          </p:cNvSpPr>
          <p:nvPr/>
        </p:nvSpPr>
        <p:spPr>
          <a:xfrm xmlns:a="http://schemas.openxmlformats.org/drawingml/2006/main">
            <a:off x="6172200" y="4400550"/>
            <a:ext cx="455295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What not to claim</a:t>
            </a:r>
          </a:p>
        </p:txBody>
      </p:sp>
      <p:sp>
        <p:nvSpPr>
          <p:cNvPr id="23" name="">
            <a:extLst xmlns:a="http://schemas.openxmlformats.org/drawingml/2006/main">
              <a:ext uri="{FF2B5EF4-FFF2-40B4-BE49-F238E27FC236}">
                <a16:creationId xmlns:a16="http://schemas.microsoft.com/office/drawing/2014/main" id="{5404EBBC-739D-45BB-8AD0-F0B3F78FC61D}"/>
              </a:ext>
            </a:extLst>
          </p:cNvPr>
          <p:cNvSpPr>
            <a:spLocks xmlns:a="http://schemas.openxmlformats.org/drawingml/2006/main" noGrp="1"/>
          </p:cNvSpPr>
          <p:nvPr/>
        </p:nvSpPr>
        <p:spPr>
          <a:xfrm xmlns:a="http://schemas.openxmlformats.org/drawingml/2006/main">
            <a:off x="6172200" y="4781550"/>
            <a:ext cx="4552950" cy="5524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Ika dWallet is the Solana custody path today. The Sui side is a Move adapter with PTBs, events, and a local relayer/test signer POC.</a:t>
            </a:r>
          </a:p>
        </p:txBody>
      </p:sp>
      <p:sp>
        <p:nvSpPr>
          <p:cNvPr id="24" name="">
            <a:extLst xmlns:a="http://schemas.openxmlformats.org/drawingml/2006/main">
              <a:ext uri="{FF2B5EF4-FFF2-40B4-BE49-F238E27FC236}">
                <a16:creationId xmlns:a16="http://schemas.microsoft.com/office/drawing/2014/main" id="{EDAC988C-2FAF-47DF-91CE-9B1DC5BCE59E}"/>
              </a:ext>
            </a:extLst>
          </p:cNvPr>
          <p:cNvSpPr>
            <a:spLocks xmlns:a="http://schemas.openxmlformats.org/drawingml/2006/main" noGrp="1"/>
          </p:cNvSpPr>
          <p:nvPr/>
        </p:nvSpPr>
        <p:spPr>
          <a:xfrm xmlns:a="http://schemas.openxmlformats.org/drawingml/2006/main">
            <a:off x="514350" y="6438900"/>
            <a:ext cx="4000500" cy="2286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825" b="0">
                <a:solidFill>
                  <a:srgbClr val="557166"/>
                </a:solidFill>
                <a:latin typeface="Aptos"/>
                <a:ea typeface="Aptos"/>
                <a:cs typeface="Aptos"/>
              </a:defRPr>
            </a:pPr>
            <a:r>
              <a:rPr sz="825" b="0">
                <a:solidFill>
                  <a:srgbClr val="557166"/>
                </a:solidFill>
                <a:latin typeface="Aptos"/>
                <a:ea typeface="Aptos"/>
                <a:cs typeface="Aptos"/>
              </a:rPr>
              <a:t>UTXOpia showcase | 5 minutes</a:t>
            </a:r>
          </a:p>
        </p:txBody>
      </p:sp>
    </p:spTree>
    <p:extLst>
      <p:ext uri="{BB962C8B-B14F-4D97-AF65-F5344CB8AC3E}">
        <p14:creationId xmlns:p14="http://schemas.microsoft.com/office/powerpoint/2010/main" val="1161948380"/>
      </p:ext>
    </p:extLst>
  </p:cSld>
</p:sld>
</file>

<file path=ppt/slides/slide2.xml><?xml version="1.0" encoding="utf-8"?>
<p:sld xmlns:p="http://schemas.openxmlformats.org/presentationml/2006/main">
  <p:cSld>
    <p:bg>
      <p:bgPr>
        <a:solidFill xmlns:a="http://schemas.openxmlformats.org/drawingml/2006/main">
          <a:srgbClr val="0610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E3D4A1-B775-40EB-8B00-F6DA7949B0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sp>
      <p:sp>
        <p:nvSpPr>
          <p:cNvPr id="2" name="">
            <a:extLst xmlns:a="http://schemas.openxmlformats.org/drawingml/2006/main">
              <a:ext uri="{FF2B5EF4-FFF2-40B4-BE49-F238E27FC236}">
                <a16:creationId xmlns:a16="http://schemas.microsoft.com/office/drawing/2014/main" id="{E0B79F27-98B1-49F8-856C-20902E385957}"/>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3" name="">
            <a:extLst xmlns:a="http://schemas.openxmlformats.org/drawingml/2006/main">
              <a:ext uri="{FF2B5EF4-FFF2-40B4-BE49-F238E27FC236}">
                <a16:creationId xmlns:a16="http://schemas.microsoft.com/office/drawing/2014/main" id="{53E29E22-ED6D-4386-B85F-56401E0857C6}"/>
              </a:ext>
            </a:extLst>
          </p:cNvPr>
          <p:cNvSpPr>
            <a:spLocks xmlns:a="http://schemas.openxmlformats.org/drawingml/2006/main" noGrp="1"/>
          </p:cNvSpPr>
          <p:nvPr/>
        </p:nvSpPr>
        <p:spPr>
          <a:xfrm xmlns:a="http://schemas.openxmlformats.org/drawingml/2006/main">
            <a:off x="514350" y="323850"/>
            <a:ext cx="34290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38100" rIns="0" bIns="38100"/>
          <a:lstStyle xmlns:a="http://schemas.openxmlformats.org/drawingml/2006/main"/>
          <a:p xmlns:a="http://schemas.openxmlformats.org/drawingml/2006/main">
            <a:pPr algn="l">
              <a:defRPr sz="1050" b="1">
                <a:solidFill>
                  <a:srgbClr val="2EE59D"/>
                </a:solidFill>
                <a:latin typeface="Aptos"/>
                <a:ea typeface="Aptos"/>
                <a:cs typeface="Aptos"/>
              </a:defRPr>
            </a:pPr>
            <a:r>
              <a:rPr sz="1050" b="1">
                <a:solidFill>
                  <a:srgbClr val="2EE59D"/>
                </a:solidFill>
                <a:latin typeface="Aptos"/>
                <a:ea typeface="Aptos"/>
                <a:cs typeface="Aptos"/>
              </a:rPr>
              <a:t>WHY THIS MATTERS</a:t>
            </a:r>
          </a:p>
        </p:txBody>
      </p:sp>
      <p:sp>
        <p:nvSpPr>
          <p:cNvPr id="4" name="">
            <a:extLst xmlns:a="http://schemas.openxmlformats.org/drawingml/2006/main">
              <a:ext uri="{FF2B5EF4-FFF2-40B4-BE49-F238E27FC236}">
                <a16:creationId xmlns:a16="http://schemas.microsoft.com/office/drawing/2014/main" id="{E993155A-E4F1-4987-98D6-FB26BCBBDA6A}"/>
              </a:ext>
            </a:extLst>
          </p:cNvPr>
          <p:cNvSpPr>
            <a:spLocks xmlns:a="http://schemas.openxmlformats.org/drawingml/2006/main" noGrp="1"/>
          </p:cNvSpPr>
          <p:nvPr/>
        </p:nvSpPr>
        <p:spPr>
          <a:xfrm xmlns:a="http://schemas.openxmlformats.org/drawingml/2006/main">
            <a:off x="514350" y="781050"/>
            <a:ext cx="6667500" cy="10668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3225" b="1">
                <a:solidFill>
                  <a:srgbClr val="F4FFF9"/>
                </a:solidFill>
                <a:latin typeface="Aptos Display"/>
                <a:ea typeface="Aptos Display"/>
                <a:cs typeface="Aptos Display"/>
              </a:defRPr>
            </a:pPr>
            <a:r>
              <a:rPr sz="3225" b="1">
                <a:solidFill>
                  <a:srgbClr val="F4FFF9"/>
                </a:solidFill>
                <a:latin typeface="Aptos Display"/>
                <a:ea typeface="Aptos Display"/>
                <a:cs typeface="Aptos Display"/>
              </a:rPr>
              <a:t>Bridges leak the graph. UTXOpia removes the public token graph.</a:t>
            </a:r>
          </a:p>
        </p:txBody>
      </p:sp>
      <p:sp>
        <p:nvSpPr>
          <p:cNvPr id="5" name="">
            <a:extLst xmlns:a="http://schemas.openxmlformats.org/drawingml/2006/main">
              <a:ext uri="{FF2B5EF4-FFF2-40B4-BE49-F238E27FC236}">
                <a16:creationId xmlns:a16="http://schemas.microsoft.com/office/drawing/2014/main" id="{F0B5A249-2DB5-4D4B-A2E8-5665D3EEBAC2}"/>
              </a:ext>
            </a:extLst>
          </p:cNvPr>
          <p:cNvSpPr>
            <a:spLocks xmlns:a="http://schemas.openxmlformats.org/drawingml/2006/main" noGrp="1"/>
          </p:cNvSpPr>
          <p:nvPr/>
        </p:nvSpPr>
        <p:spPr>
          <a:xfrm xmlns:a="http://schemas.openxmlformats.org/drawingml/2006/main">
            <a:off x="533400" y="1847850"/>
            <a:ext cx="6762750" cy="7810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1575" b="0">
                <a:solidFill>
                  <a:srgbClr val="A7BDB3"/>
                </a:solidFill>
                <a:latin typeface="Aptos"/>
                <a:ea typeface="Aptos"/>
                <a:cs typeface="Aptos"/>
              </a:defRPr>
            </a:pPr>
            <a:r>
              <a:rPr sz="1575" b="0">
                <a:solidFill>
                  <a:srgbClr val="A7BDB3"/>
                </a:solidFill>
                <a:latin typeface="Aptos"/>
                <a:ea typeface="Aptos"/>
                <a:cs typeface="Aptos"/>
              </a:rPr>
              <a:t>Most bridge designs mint visible assets, so every transfer becomes wallet analytics data. UTXOpia keeps value inside notes, nullifiers, and commitments.</a:t>
            </a:r>
          </a:p>
        </p:txBody>
      </p:sp>
      <p:sp>
        <p:nvSpPr>
          <p:cNvPr id="6" name="">
            <a:extLst xmlns:a="http://schemas.openxmlformats.org/drawingml/2006/main">
              <a:ext uri="{FF2B5EF4-FFF2-40B4-BE49-F238E27FC236}">
                <a16:creationId xmlns:a16="http://schemas.microsoft.com/office/drawing/2014/main" id="{739F6156-E15A-4520-89A2-3238C6A5F3DC}"/>
              </a:ext>
            </a:extLst>
          </p:cNvPr>
          <p:cNvSpPr>
            <a:spLocks xmlns:a="http://schemas.openxmlformats.org/drawingml/2006/main" noGrp="1"/>
          </p:cNvSpPr>
          <p:nvPr/>
        </p:nvSpPr>
        <p:spPr>
          <a:xfrm xmlns:a="http://schemas.openxmlformats.org/drawingml/2006/main">
            <a:off x="666750" y="2895600"/>
            <a:ext cx="3143250" cy="16192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7" name="">
            <a:extLst xmlns:a="http://schemas.openxmlformats.org/drawingml/2006/main">
              <a:ext uri="{FF2B5EF4-FFF2-40B4-BE49-F238E27FC236}">
                <a16:creationId xmlns:a16="http://schemas.microsoft.com/office/drawing/2014/main" id="{16B46C6C-8ABB-45D0-8951-ED97CEFB158B}"/>
              </a:ext>
            </a:extLst>
          </p:cNvPr>
          <p:cNvSpPr>
            <a:spLocks xmlns:a="http://schemas.openxmlformats.org/drawingml/2006/main" noGrp="1"/>
          </p:cNvSpPr>
          <p:nvPr/>
        </p:nvSpPr>
        <p:spPr>
          <a:xfrm xmlns:a="http://schemas.openxmlformats.org/drawingml/2006/main">
            <a:off x="666750" y="2895600"/>
            <a:ext cx="57150" cy="1619250"/>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ln>
        </p:spPr>
      </p:sp>
      <p:sp>
        <p:nvSpPr>
          <p:cNvPr id="8" name="">
            <a:extLst xmlns:a="http://schemas.openxmlformats.org/drawingml/2006/main">
              <a:ext uri="{FF2B5EF4-FFF2-40B4-BE49-F238E27FC236}">
                <a16:creationId xmlns:a16="http://schemas.microsoft.com/office/drawing/2014/main" id="{D16289AD-F056-4840-A9C4-B51F0D88A801}"/>
              </a:ext>
            </a:extLst>
          </p:cNvPr>
          <p:cNvSpPr>
            <a:spLocks xmlns:a="http://schemas.openxmlformats.org/drawingml/2006/main" noGrp="1"/>
          </p:cNvSpPr>
          <p:nvPr/>
        </p:nvSpPr>
        <p:spPr>
          <a:xfrm xmlns:a="http://schemas.openxmlformats.org/drawingml/2006/main">
            <a:off x="876300" y="3067050"/>
            <a:ext cx="278130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Typical bridge leak</a:t>
            </a:r>
          </a:p>
        </p:txBody>
      </p:sp>
      <p:sp>
        <p:nvSpPr>
          <p:cNvPr id="9" name="">
            <a:extLst xmlns:a="http://schemas.openxmlformats.org/drawingml/2006/main">
              <a:ext uri="{FF2B5EF4-FFF2-40B4-BE49-F238E27FC236}">
                <a16:creationId xmlns:a16="http://schemas.microsoft.com/office/drawing/2014/main" id="{AA2EF120-C27C-47A4-802E-AD7DF3304A7E}"/>
              </a:ext>
            </a:extLst>
          </p:cNvPr>
          <p:cNvSpPr>
            <a:spLocks xmlns:a="http://schemas.openxmlformats.org/drawingml/2006/main" noGrp="1"/>
          </p:cNvSpPr>
          <p:nvPr/>
        </p:nvSpPr>
        <p:spPr>
          <a:xfrm xmlns:a="http://schemas.openxmlformats.org/drawingml/2006/main">
            <a:off x="876300" y="3448050"/>
            <a:ext cx="2781300" cy="9525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Deposit address, minted token balance, transfer path, recipient wallet, and exit amount are all correlated by public state.</a:t>
            </a:r>
          </a:p>
        </p:txBody>
      </p:sp>
      <p:sp>
        <p:nvSpPr>
          <p:cNvPr id="10" name="">
            <a:extLst xmlns:a="http://schemas.openxmlformats.org/drawingml/2006/main">
              <a:ext uri="{FF2B5EF4-FFF2-40B4-BE49-F238E27FC236}">
                <a16:creationId xmlns:a16="http://schemas.microsoft.com/office/drawing/2014/main" id="{E58A72D7-BCA0-47A2-B48D-31E608D3BD9F}"/>
              </a:ext>
            </a:extLst>
          </p:cNvPr>
          <p:cNvSpPr>
            <a:spLocks xmlns:a="http://schemas.openxmlformats.org/drawingml/2006/main" noGrp="1"/>
          </p:cNvSpPr>
          <p:nvPr/>
        </p:nvSpPr>
        <p:spPr>
          <a:xfrm xmlns:a="http://schemas.openxmlformats.org/drawingml/2006/main">
            <a:off x="4514850" y="2895600"/>
            <a:ext cx="3143250" cy="16192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1" name="">
            <a:extLst xmlns:a="http://schemas.openxmlformats.org/drawingml/2006/main">
              <a:ext uri="{FF2B5EF4-FFF2-40B4-BE49-F238E27FC236}">
                <a16:creationId xmlns:a16="http://schemas.microsoft.com/office/drawing/2014/main" id="{166A70BB-5D59-4DB5-912B-EBB0B232448D}"/>
              </a:ext>
            </a:extLst>
          </p:cNvPr>
          <p:cNvSpPr>
            <a:spLocks xmlns:a="http://schemas.openxmlformats.org/drawingml/2006/main" noGrp="1"/>
          </p:cNvSpPr>
          <p:nvPr/>
        </p:nvSpPr>
        <p:spPr>
          <a:xfrm xmlns:a="http://schemas.openxmlformats.org/drawingml/2006/main">
            <a:off x="4514850" y="2895600"/>
            <a:ext cx="57150" cy="161925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12" name="">
            <a:extLst xmlns:a="http://schemas.openxmlformats.org/drawingml/2006/main">
              <a:ext uri="{FF2B5EF4-FFF2-40B4-BE49-F238E27FC236}">
                <a16:creationId xmlns:a16="http://schemas.microsoft.com/office/drawing/2014/main" id="{D9690F73-5574-4BD3-8B0A-CDDEB65B38E0}"/>
              </a:ext>
            </a:extLst>
          </p:cNvPr>
          <p:cNvSpPr>
            <a:spLocks xmlns:a="http://schemas.openxmlformats.org/drawingml/2006/main" noGrp="1"/>
          </p:cNvSpPr>
          <p:nvPr/>
        </p:nvSpPr>
        <p:spPr>
          <a:xfrm xmlns:a="http://schemas.openxmlformats.org/drawingml/2006/main">
            <a:off x="4724400" y="3067050"/>
            <a:ext cx="278130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UTXOpia model</a:t>
            </a:r>
          </a:p>
        </p:txBody>
      </p:sp>
      <p:sp>
        <p:nvSpPr>
          <p:cNvPr id="13" name="">
            <a:extLst xmlns:a="http://schemas.openxmlformats.org/drawingml/2006/main">
              <a:ext uri="{FF2B5EF4-FFF2-40B4-BE49-F238E27FC236}">
                <a16:creationId xmlns:a16="http://schemas.microsoft.com/office/drawing/2014/main" id="{A9F1EB42-A576-48A0-8D59-53B6C612ACB7}"/>
              </a:ext>
            </a:extLst>
          </p:cNvPr>
          <p:cNvSpPr>
            <a:spLocks xmlns:a="http://schemas.openxmlformats.org/drawingml/2006/main" noGrp="1"/>
          </p:cNvSpPr>
          <p:nvPr/>
        </p:nvSpPr>
        <p:spPr>
          <a:xfrm xmlns:a="http://schemas.openxmlformats.org/drawingml/2006/main">
            <a:off x="4724400" y="3448050"/>
            <a:ext cx="2781300" cy="9525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No public zkBTC token balance. A note is Poseidon(npk, token_id, amount); spends reveal nullifiers, not the sender graph.</a:t>
            </a:r>
          </a:p>
        </p:txBody>
      </p:sp>
      <p:sp>
        <p:nvSpPr>
          <p:cNvPr id="14" name="">
            <a:extLst xmlns:a="http://schemas.openxmlformats.org/drawingml/2006/main">
              <a:ext uri="{FF2B5EF4-FFF2-40B4-BE49-F238E27FC236}">
                <a16:creationId xmlns:a16="http://schemas.microsoft.com/office/drawing/2014/main" id="{9C835A0D-2948-47E9-BC68-0F79D1F61D32}"/>
              </a:ext>
            </a:extLst>
          </p:cNvPr>
          <p:cNvSpPr>
            <a:spLocks xmlns:a="http://schemas.openxmlformats.org/drawingml/2006/main" noGrp="1"/>
          </p:cNvSpPr>
          <p:nvPr/>
        </p:nvSpPr>
        <p:spPr>
          <a:xfrm xmlns:a="http://schemas.openxmlformats.org/drawingml/2006/main">
            <a:off x="8362950" y="2895600"/>
            <a:ext cx="3143250" cy="16192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5" name="">
            <a:extLst xmlns:a="http://schemas.openxmlformats.org/drawingml/2006/main">
              <a:ext uri="{FF2B5EF4-FFF2-40B4-BE49-F238E27FC236}">
                <a16:creationId xmlns:a16="http://schemas.microsoft.com/office/drawing/2014/main" id="{0B46360F-2B10-49D8-9216-827CB979FF15}"/>
              </a:ext>
            </a:extLst>
          </p:cNvPr>
          <p:cNvSpPr>
            <a:spLocks xmlns:a="http://schemas.openxmlformats.org/drawingml/2006/main" noGrp="1"/>
          </p:cNvSpPr>
          <p:nvPr/>
        </p:nvSpPr>
        <p:spPr>
          <a:xfrm xmlns:a="http://schemas.openxmlformats.org/drawingml/2006/main">
            <a:off x="8362950" y="2895600"/>
            <a:ext cx="57150" cy="161925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sp>
      <p:sp>
        <p:nvSpPr>
          <p:cNvPr id="16" name="">
            <a:extLst xmlns:a="http://schemas.openxmlformats.org/drawingml/2006/main">
              <a:ext uri="{FF2B5EF4-FFF2-40B4-BE49-F238E27FC236}">
                <a16:creationId xmlns:a16="http://schemas.microsoft.com/office/drawing/2014/main" id="{C04931A9-2B34-4716-B01A-1EC7F1D52643}"/>
              </a:ext>
            </a:extLst>
          </p:cNvPr>
          <p:cNvSpPr>
            <a:spLocks xmlns:a="http://schemas.openxmlformats.org/drawingml/2006/main" noGrp="1"/>
          </p:cNvSpPr>
          <p:nvPr/>
        </p:nvSpPr>
        <p:spPr>
          <a:xfrm xmlns:a="http://schemas.openxmlformats.org/drawingml/2006/main">
            <a:off x="8572500" y="3067050"/>
            <a:ext cx="278130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User outcome</a:t>
            </a:r>
          </a:p>
        </p:txBody>
      </p:sp>
      <p:sp>
        <p:nvSpPr>
          <p:cNvPr id="17" name="">
            <a:extLst xmlns:a="http://schemas.openxmlformats.org/drawingml/2006/main">
              <a:ext uri="{FF2B5EF4-FFF2-40B4-BE49-F238E27FC236}">
                <a16:creationId xmlns:a16="http://schemas.microsoft.com/office/drawing/2014/main" id="{4B7D7647-8F01-48A0-B0A5-4CAF2402BCDA}"/>
              </a:ext>
            </a:extLst>
          </p:cNvPr>
          <p:cNvSpPr>
            <a:spLocks xmlns:a="http://schemas.openxmlformats.org/drawingml/2006/main" noGrp="1"/>
          </p:cNvSpPr>
          <p:nvPr/>
        </p:nvSpPr>
        <p:spPr>
          <a:xfrm xmlns:a="http://schemas.openxmlformats.org/drawingml/2006/main">
            <a:off x="8572500" y="3448050"/>
            <a:ext cx="2781300" cy="9525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Private send, split, merge, and exit flows can happen without publishing a transferable wrapped-token trail.</a:t>
            </a:r>
          </a:p>
        </p:txBody>
      </p:sp>
      <p:sp>
        <p:nvSpPr>
          <p:cNvPr id="18" name="">
            <a:extLst xmlns:a="http://schemas.openxmlformats.org/drawingml/2006/main">
              <a:ext uri="{FF2B5EF4-FFF2-40B4-BE49-F238E27FC236}">
                <a16:creationId xmlns:a16="http://schemas.microsoft.com/office/drawing/2014/main" id="{C5E9F905-E93B-4885-921B-1C16C7C909A0}"/>
              </a:ext>
            </a:extLst>
          </p:cNvPr>
          <p:cNvSpPr>
            <a:spLocks xmlns:a="http://schemas.openxmlformats.org/drawingml/2006/main" noGrp="1"/>
          </p:cNvSpPr>
          <p:nvPr/>
        </p:nvSpPr>
        <p:spPr>
          <a:xfrm xmlns:a="http://schemas.openxmlformats.org/drawingml/2006/main">
            <a:off x="1238250" y="5143500"/>
            <a:ext cx="9315450" cy="19050"/>
          </a:xfrm>
          <a:prstGeom xmlns:a="http://schemas.openxmlformats.org/drawingml/2006/main" prst="rect">
            <a:avLst/>
          </a:prstGeom>
          <a:solidFill xmlns:a="http://schemas.openxmlformats.org/drawingml/2006/main">
            <a:srgbClr val="24483B"/>
          </a:solidFill>
          <a:ln xmlns:a="http://schemas.openxmlformats.org/drawingml/2006/main" w="0">
            <a:solidFill>
              <a:srgbClr val="24483B"/>
            </a:solidFill>
          </a:ln>
        </p:spPr>
      </p:sp>
      <p:sp>
        <p:nvSpPr>
          <p:cNvPr id="19" name="">
            <a:extLst xmlns:a="http://schemas.openxmlformats.org/drawingml/2006/main">
              <a:ext uri="{FF2B5EF4-FFF2-40B4-BE49-F238E27FC236}">
                <a16:creationId xmlns:a16="http://schemas.microsoft.com/office/drawing/2014/main" id="{D2A02D99-A168-4952-BBB2-634696948BC6}"/>
              </a:ext>
            </a:extLst>
          </p:cNvPr>
          <p:cNvSpPr>
            <a:spLocks xmlns:a="http://schemas.openxmlformats.org/drawingml/2006/main" noGrp="1"/>
          </p:cNvSpPr>
          <p:nvPr/>
        </p:nvSpPr>
        <p:spPr>
          <a:xfrm xmlns:a="http://schemas.openxmlformats.org/drawingml/2006/main">
            <a:off x="838200" y="5372100"/>
            <a:ext cx="17145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ctr">
              <a:defRPr sz="1125" b="1">
                <a:solidFill>
                  <a:srgbClr val="FFB45C"/>
                </a:solidFill>
                <a:latin typeface="Aptos"/>
                <a:ea typeface="Aptos"/>
                <a:cs typeface="Aptos"/>
              </a:defRPr>
            </a:pPr>
            <a:r>
              <a:rPr sz="1125" b="1">
                <a:solidFill>
                  <a:srgbClr val="FFB45C"/>
                </a:solidFill>
                <a:latin typeface="Aptos"/>
                <a:ea typeface="Aptos"/>
                <a:cs typeface="Aptos"/>
              </a:rPr>
              <a:t>Deposit is visible</a:t>
            </a:r>
          </a:p>
        </p:txBody>
      </p:sp>
      <p:sp>
        <p:nvSpPr>
          <p:cNvPr id="20" name="">
            <a:extLst xmlns:a="http://schemas.openxmlformats.org/drawingml/2006/main">
              <a:ext uri="{FF2B5EF4-FFF2-40B4-BE49-F238E27FC236}">
                <a16:creationId xmlns:a16="http://schemas.microsoft.com/office/drawing/2014/main" id="{E58A72FA-C2DD-473B-BB57-137ED879602D}"/>
              </a:ext>
            </a:extLst>
          </p:cNvPr>
          <p:cNvSpPr>
            <a:spLocks xmlns:a="http://schemas.openxmlformats.org/drawingml/2006/main" noGrp="1"/>
          </p:cNvSpPr>
          <p:nvPr/>
        </p:nvSpPr>
        <p:spPr>
          <a:xfrm xmlns:a="http://schemas.openxmlformats.org/drawingml/2006/main">
            <a:off x="4953000" y="5372100"/>
            <a:ext cx="200025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ctr">
              <a:defRPr sz="1125" b="1">
                <a:solidFill>
                  <a:srgbClr val="2EE59D"/>
                </a:solidFill>
                <a:latin typeface="Aptos"/>
                <a:ea typeface="Aptos"/>
                <a:cs typeface="Aptos"/>
              </a:defRPr>
            </a:pPr>
            <a:r>
              <a:rPr sz="1125" b="1">
                <a:solidFill>
                  <a:srgbClr val="2EE59D"/>
                </a:solidFill>
                <a:latin typeface="Aptos"/>
                <a:ea typeface="Aptos"/>
                <a:cs typeface="Aptos"/>
              </a:rPr>
              <a:t>Transfers are shielded</a:t>
            </a:r>
          </a:p>
        </p:txBody>
      </p:sp>
      <p:sp>
        <p:nvSpPr>
          <p:cNvPr id="21" name="">
            <a:extLst xmlns:a="http://schemas.openxmlformats.org/drawingml/2006/main">
              <a:ext uri="{FF2B5EF4-FFF2-40B4-BE49-F238E27FC236}">
                <a16:creationId xmlns:a16="http://schemas.microsoft.com/office/drawing/2014/main" id="{FE9983F1-3AA8-4C33-A4C2-83F1CB11FA8E}"/>
              </a:ext>
            </a:extLst>
          </p:cNvPr>
          <p:cNvSpPr>
            <a:spLocks xmlns:a="http://schemas.openxmlformats.org/drawingml/2006/main" noGrp="1"/>
          </p:cNvSpPr>
          <p:nvPr/>
        </p:nvSpPr>
        <p:spPr>
          <a:xfrm xmlns:a="http://schemas.openxmlformats.org/drawingml/2006/main">
            <a:off x="9201150" y="5372100"/>
            <a:ext cx="20955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ctr">
              <a:defRPr sz="1125" b="1">
                <a:solidFill>
                  <a:srgbClr val="FFB45C"/>
                </a:solidFill>
                <a:latin typeface="Aptos"/>
                <a:ea typeface="Aptos"/>
                <a:cs typeface="Aptos"/>
              </a:defRPr>
            </a:pPr>
            <a:r>
              <a:rPr sz="1125" b="1">
                <a:solidFill>
                  <a:srgbClr val="FFB45C"/>
                </a:solidFill>
                <a:latin typeface="Aptos"/>
                <a:ea typeface="Aptos"/>
                <a:cs typeface="Aptos"/>
              </a:rPr>
              <a:t>Withdrawal reveals amount</a:t>
            </a:r>
          </a:p>
        </p:txBody>
      </p:sp>
      <p:sp>
        <p:nvSpPr>
          <p:cNvPr id="22" name="">
            <a:extLst xmlns:a="http://schemas.openxmlformats.org/drawingml/2006/main">
              <a:ext uri="{FF2B5EF4-FFF2-40B4-BE49-F238E27FC236}">
                <a16:creationId xmlns:a16="http://schemas.microsoft.com/office/drawing/2014/main" id="{4DDB027C-AA95-4E54-A540-42193294B777}"/>
              </a:ext>
            </a:extLst>
          </p:cNvPr>
          <p:cNvSpPr>
            <a:spLocks xmlns:a="http://schemas.openxmlformats.org/drawingml/2006/main" noGrp="1"/>
          </p:cNvSpPr>
          <p:nvPr/>
        </p:nvSpPr>
        <p:spPr>
          <a:xfrm xmlns:a="http://schemas.openxmlformats.org/drawingml/2006/main">
            <a:off x="514350" y="6438900"/>
            <a:ext cx="4000500" cy="2286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825" b="0">
                <a:solidFill>
                  <a:srgbClr val="557166"/>
                </a:solidFill>
                <a:latin typeface="Aptos"/>
                <a:ea typeface="Aptos"/>
                <a:cs typeface="Aptos"/>
              </a:defRPr>
            </a:pPr>
            <a:r>
              <a:rPr sz="825" b="0">
                <a:solidFill>
                  <a:srgbClr val="557166"/>
                </a:solidFill>
                <a:latin typeface="Aptos"/>
                <a:ea typeface="Aptos"/>
                <a:cs typeface="Aptos"/>
              </a:rPr>
              <a:t>UTXOpia showcase | 5 minutes</a:t>
            </a:r>
          </a:p>
        </p:txBody>
      </p:sp>
    </p:spTree>
    <p:extLst>
      <p:ext uri="{BB962C8B-B14F-4D97-AF65-F5344CB8AC3E}">
        <p14:creationId xmlns:p14="http://schemas.microsoft.com/office/powerpoint/2010/main" val="1465746274"/>
      </p:ext>
    </p:extLst>
  </p:cSld>
</p:sld>
</file>

<file path=ppt/slides/slide3.xml><?xml version="1.0" encoding="utf-8"?>
<p:sld xmlns:p="http://schemas.openxmlformats.org/presentationml/2006/main">
  <p:cSld>
    <p:bg>
      <p:bgPr>
        <a:solidFill xmlns:a="http://schemas.openxmlformats.org/drawingml/2006/main">
          <a:srgbClr val="0610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FE42F2-FB8F-4179-90AF-508FD34DBE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sp>
      <p:sp>
        <p:nvSpPr>
          <p:cNvPr id="2" name="">
            <a:extLst xmlns:a="http://schemas.openxmlformats.org/drawingml/2006/main">
              <a:ext uri="{FF2B5EF4-FFF2-40B4-BE49-F238E27FC236}">
                <a16:creationId xmlns:a16="http://schemas.microsoft.com/office/drawing/2014/main" id="{58495D4E-30F6-479F-9E45-31D663BEBA6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3" name="">
            <a:extLst xmlns:a="http://schemas.openxmlformats.org/drawingml/2006/main">
              <a:ext uri="{FF2B5EF4-FFF2-40B4-BE49-F238E27FC236}">
                <a16:creationId xmlns:a16="http://schemas.microsoft.com/office/drawing/2014/main" id="{73BE46AA-04E1-4792-8009-102B17A2D3CB}"/>
              </a:ext>
            </a:extLst>
          </p:cNvPr>
          <p:cNvSpPr>
            <a:spLocks xmlns:a="http://schemas.openxmlformats.org/drawingml/2006/main" noGrp="1"/>
          </p:cNvSpPr>
          <p:nvPr/>
        </p:nvSpPr>
        <p:spPr>
          <a:xfrm xmlns:a="http://schemas.openxmlformats.org/drawingml/2006/main">
            <a:off x="514350" y="323850"/>
            <a:ext cx="34290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38100" rIns="0" bIns="38100"/>
          <a:lstStyle xmlns:a="http://schemas.openxmlformats.org/drawingml/2006/main"/>
          <a:p xmlns:a="http://schemas.openxmlformats.org/drawingml/2006/main">
            <a:pPr algn="l">
              <a:defRPr sz="1050" b="1">
                <a:solidFill>
                  <a:srgbClr val="2EE59D"/>
                </a:solidFill>
                <a:latin typeface="Aptos"/>
                <a:ea typeface="Aptos"/>
                <a:cs typeface="Aptos"/>
              </a:defRPr>
            </a:pPr>
            <a:r>
              <a:rPr sz="1050" b="1">
                <a:solidFill>
                  <a:srgbClr val="2EE59D"/>
                </a:solidFill>
                <a:latin typeface="Aptos"/>
                <a:ea typeface="Aptos"/>
                <a:cs typeface="Aptos"/>
              </a:rPr>
              <a:t>ARCHITECTURE</a:t>
            </a:r>
          </a:p>
        </p:txBody>
      </p:sp>
      <p:sp>
        <p:nvSpPr>
          <p:cNvPr id="4" name="">
            <a:extLst xmlns:a="http://schemas.openxmlformats.org/drawingml/2006/main">
              <a:ext uri="{FF2B5EF4-FFF2-40B4-BE49-F238E27FC236}">
                <a16:creationId xmlns:a16="http://schemas.microsoft.com/office/drawing/2014/main" id="{055275EA-CAFC-43DA-9A24-660ECD52B54D}"/>
              </a:ext>
            </a:extLst>
          </p:cNvPr>
          <p:cNvSpPr>
            <a:spLocks xmlns:a="http://schemas.openxmlformats.org/drawingml/2006/main" noGrp="1"/>
          </p:cNvSpPr>
          <p:nvPr/>
        </p:nvSpPr>
        <p:spPr>
          <a:xfrm xmlns:a="http://schemas.openxmlformats.org/drawingml/2006/main">
            <a:off x="514350" y="781050"/>
            <a:ext cx="6667500" cy="9525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3225" b="1">
                <a:solidFill>
                  <a:srgbClr val="F4FFF9"/>
                </a:solidFill>
                <a:latin typeface="Aptos Display"/>
                <a:ea typeface="Aptos Display"/>
                <a:cs typeface="Aptos Display"/>
              </a:defRPr>
            </a:pPr>
            <a:r>
              <a:rPr sz="3225" b="1">
                <a:solidFill>
                  <a:srgbClr val="F4FFF9"/>
                </a:solidFill>
                <a:latin typeface="Aptos Display"/>
                <a:ea typeface="Aptos Display"/>
                <a:cs typeface="Aptos Display"/>
              </a:rPr>
              <a:t>One note model, two chain adapters</a:t>
            </a:r>
          </a:p>
        </p:txBody>
      </p:sp>
      <p:sp>
        <p:nvSpPr>
          <p:cNvPr id="5" name="">
            <a:extLst xmlns:a="http://schemas.openxmlformats.org/drawingml/2006/main">
              <a:ext uri="{FF2B5EF4-FFF2-40B4-BE49-F238E27FC236}">
                <a16:creationId xmlns:a16="http://schemas.microsoft.com/office/drawing/2014/main" id="{8A64B0BF-4E7E-4D73-8DF9-1D4CE594C062}"/>
              </a:ext>
            </a:extLst>
          </p:cNvPr>
          <p:cNvSpPr>
            <a:spLocks xmlns:a="http://schemas.openxmlformats.org/drawingml/2006/main" noGrp="1"/>
          </p:cNvSpPr>
          <p:nvPr/>
        </p:nvSpPr>
        <p:spPr>
          <a:xfrm xmlns:a="http://schemas.openxmlformats.org/drawingml/2006/main">
            <a:off x="533400" y="1790700"/>
            <a:ext cx="6762750" cy="7810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1575" b="0">
                <a:solidFill>
                  <a:srgbClr val="A7BDB3"/>
                </a:solidFill>
                <a:latin typeface="Aptos"/>
                <a:ea typeface="Aptos"/>
                <a:cs typeface="Aptos"/>
              </a:defRPr>
            </a:pPr>
            <a:r>
              <a:rPr sz="1575" b="0">
                <a:solidFill>
                  <a:srgbClr val="A7BDB3"/>
                </a:solidFill>
                <a:latin typeface="Aptos"/>
                <a:ea typeface="Aptos"/>
                <a:cs typeface="Aptos"/>
              </a:rPr>
              <a:t>The privacy primitive stays constant: BTC verification, Poseidon commitments, Groth16 JoinSplit proofs, nullifier checks, and event-based scanning.</a:t>
            </a:r>
          </a:p>
        </p:txBody>
      </p:sp>
      <p:sp>
        <p:nvSpPr>
          <p:cNvPr id="6" name="">
            <a:extLst xmlns:a="http://schemas.openxmlformats.org/drawingml/2006/main">
              <a:ext uri="{FF2B5EF4-FFF2-40B4-BE49-F238E27FC236}">
                <a16:creationId xmlns:a16="http://schemas.microsoft.com/office/drawing/2014/main" id="{68E27106-A20A-4B52-B8E8-8460023C8503}"/>
              </a:ext>
            </a:extLst>
          </p:cNvPr>
          <p:cNvSpPr>
            <a:spLocks xmlns:a="http://schemas.openxmlformats.org/drawingml/2006/main" noGrp="1"/>
          </p:cNvSpPr>
          <p:nvPr/>
        </p:nvSpPr>
        <p:spPr>
          <a:xfrm xmlns:a="http://schemas.openxmlformats.org/drawingml/2006/main">
            <a:off x="4248150" y="2743200"/>
            <a:ext cx="3695700" cy="1238250"/>
          </a:xfrm>
          <a:prstGeom xmlns:a="http://schemas.openxmlformats.org/drawingml/2006/main" prst="rect">
            <a:avLst/>
          </a:prstGeom>
          <a:solidFill xmlns:a="http://schemas.openxmlformats.org/drawingml/2006/main">
            <a:srgbClr val="132923"/>
          </a:solidFill>
          <a:ln xmlns:a="http://schemas.openxmlformats.org/drawingml/2006/main" w="19050">
            <a:solidFill>
              <a:srgbClr val="2EE59D"/>
            </a:solidFill>
          </a:ln>
        </p:spPr>
      </p:sp>
      <p:sp>
        <p:nvSpPr>
          <p:cNvPr id="7" name="">
            <a:extLst xmlns:a="http://schemas.openxmlformats.org/drawingml/2006/main">
              <a:ext uri="{FF2B5EF4-FFF2-40B4-BE49-F238E27FC236}">
                <a16:creationId xmlns:a16="http://schemas.microsoft.com/office/drawing/2014/main" id="{721B5C25-EE47-4AB8-8766-C7CCFE302754}"/>
              </a:ext>
            </a:extLst>
          </p:cNvPr>
          <p:cNvSpPr>
            <a:spLocks xmlns:a="http://schemas.openxmlformats.org/drawingml/2006/main" noGrp="1"/>
          </p:cNvSpPr>
          <p:nvPr/>
        </p:nvSpPr>
        <p:spPr>
          <a:xfrm xmlns:a="http://schemas.openxmlformats.org/drawingml/2006/main">
            <a:off x="4610100" y="2952750"/>
            <a:ext cx="2952750" cy="323850"/>
          </a:xfrm>
          <a:prstGeom xmlns:a="http://schemas.openxmlformats.org/drawingml/2006/main" prst="rect">
            <a:avLst/>
          </a:prstGeom>
          <a:solidFill xmlns:a="http://schemas.openxmlformats.org/drawingml/2006/main">
            <a:srgbClr val="132923"/>
          </a:solidFill>
          <a:ln xmlns:a="http://schemas.openxmlformats.org/drawingml/2006/main" w="0">
            <a:solidFill>
              <a:srgbClr val="132923"/>
            </a:solidFill>
          </a:ln>
        </p:spPr>
        <p:txBody>
          <a:bodyPr xmlns:a="http://schemas.openxmlformats.org/drawingml/2006/main" lIns="76200" tIns="57150" rIns="76200" bIns="57150"/>
          <a:lstStyle xmlns:a="http://schemas.openxmlformats.org/drawingml/2006/main"/>
          <a:p xmlns:a="http://schemas.openxmlformats.org/drawingml/2006/main">
            <a:pPr algn="ctr">
              <a:defRPr sz="1800" b="1">
                <a:solidFill>
                  <a:srgbClr val="F4FFF9"/>
                </a:solidFill>
                <a:latin typeface="Aptos"/>
                <a:ea typeface="Aptos"/>
                <a:cs typeface="Aptos"/>
              </a:defRPr>
            </a:pPr>
            <a:r>
              <a:rPr sz="1800" b="1">
                <a:solidFill>
                  <a:srgbClr val="F4FFF9"/>
                </a:solidFill>
                <a:latin typeface="Aptos"/>
                <a:ea typeface="Aptos"/>
                <a:cs typeface="Aptos"/>
              </a:rPr>
              <a:t>Shared privacy core</a:t>
            </a:r>
          </a:p>
        </p:txBody>
      </p:sp>
      <p:sp>
        <p:nvSpPr>
          <p:cNvPr id="8" name="">
            <a:extLst xmlns:a="http://schemas.openxmlformats.org/drawingml/2006/main">
              <a:ext uri="{FF2B5EF4-FFF2-40B4-BE49-F238E27FC236}">
                <a16:creationId xmlns:a16="http://schemas.microsoft.com/office/drawing/2014/main" id="{4FE9B44D-6AE5-4B5D-8ED3-84EDE028E326}"/>
              </a:ext>
            </a:extLst>
          </p:cNvPr>
          <p:cNvSpPr>
            <a:spLocks xmlns:a="http://schemas.openxmlformats.org/drawingml/2006/main" noGrp="1"/>
          </p:cNvSpPr>
          <p:nvPr/>
        </p:nvSpPr>
        <p:spPr>
          <a:xfrm xmlns:a="http://schemas.openxmlformats.org/drawingml/2006/main">
            <a:off x="4495800" y="3390900"/>
            <a:ext cx="3200400" cy="323850"/>
          </a:xfrm>
          <a:prstGeom xmlns:a="http://schemas.openxmlformats.org/drawingml/2006/main" prst="rect">
            <a:avLst/>
          </a:prstGeom>
          <a:solidFill xmlns:a="http://schemas.openxmlformats.org/drawingml/2006/main">
            <a:srgbClr val="132923"/>
          </a:solidFill>
          <a:ln xmlns:a="http://schemas.openxmlformats.org/drawingml/2006/main" w="0">
            <a:solidFill>
              <a:srgbClr val="132923"/>
            </a:solidFill>
          </a:ln>
        </p:spPr>
        <p:txBody>
          <a:bodyPr xmlns:a="http://schemas.openxmlformats.org/drawingml/2006/main" lIns="76200" tIns="57150" rIns="76200" bIns="57150"/>
          <a:lstStyle xmlns:a="http://schemas.openxmlformats.org/drawingml/2006/main"/>
          <a:p xmlns:a="http://schemas.openxmlformats.org/drawingml/2006/main">
            <a:pPr algn="ctr">
              <a:defRPr sz="1125" b="0">
                <a:solidFill>
                  <a:srgbClr val="A7BDB3"/>
                </a:solidFill>
                <a:latin typeface="Aptos"/>
                <a:ea typeface="Aptos"/>
                <a:cs typeface="Aptos"/>
              </a:defRPr>
            </a:pPr>
            <a:r>
              <a:rPr sz="1125" b="0">
                <a:solidFill>
                  <a:srgbClr val="A7BDB3"/>
                </a:solidFill>
                <a:latin typeface="Aptos"/>
                <a:ea typeface="Aptos"/>
                <a:cs typeface="Aptos"/>
              </a:rPr>
              <a:t>circuits | SDK | BTC helpers | note scanner</a:t>
            </a:r>
          </a:p>
        </p:txBody>
      </p:sp>
      <p:sp>
        <p:nvSpPr>
          <p:cNvPr id="9" name="">
            <a:extLst xmlns:a="http://schemas.openxmlformats.org/drawingml/2006/main">
              <a:ext uri="{FF2B5EF4-FFF2-40B4-BE49-F238E27FC236}">
                <a16:creationId xmlns:a16="http://schemas.microsoft.com/office/drawing/2014/main" id="{707B0ACE-93AB-4ADA-9082-3578C86F267D}"/>
              </a:ext>
            </a:extLst>
          </p:cNvPr>
          <p:cNvSpPr>
            <a:spLocks xmlns:a="http://schemas.openxmlformats.org/drawingml/2006/main" noGrp="1"/>
          </p:cNvSpPr>
          <p:nvPr/>
        </p:nvSpPr>
        <p:spPr>
          <a:xfrm xmlns:a="http://schemas.openxmlformats.org/drawingml/2006/main">
            <a:off x="1952625" y="3352800"/>
            <a:ext cx="1962150" cy="38100"/>
          </a:xfrm>
          <a:prstGeom xmlns:a="http://schemas.openxmlformats.org/drawingml/2006/main" prst="rect">
            <a:avLst/>
          </a:prstGeom>
          <a:solidFill xmlns:a="http://schemas.openxmlformats.org/drawingml/2006/main">
            <a:srgbClr val="24483B"/>
          </a:solidFill>
          <a:ln xmlns:a="http://schemas.openxmlformats.org/drawingml/2006/main" w="0">
            <a:solidFill>
              <a:srgbClr val="24483B"/>
            </a:solidFill>
          </a:ln>
        </p:spPr>
      </p:sp>
      <p:sp>
        <p:nvSpPr>
          <p:cNvPr id="10" name="">
            <a:extLst xmlns:a="http://schemas.openxmlformats.org/drawingml/2006/main">
              <a:ext uri="{FF2B5EF4-FFF2-40B4-BE49-F238E27FC236}">
                <a16:creationId xmlns:a16="http://schemas.microsoft.com/office/drawing/2014/main" id="{6F684238-4A12-445E-8CAB-3BDAC9F3E6C5}"/>
              </a:ext>
            </a:extLst>
          </p:cNvPr>
          <p:cNvSpPr>
            <a:spLocks xmlns:a="http://schemas.openxmlformats.org/drawingml/2006/main" noGrp="1"/>
          </p:cNvSpPr>
          <p:nvPr/>
        </p:nvSpPr>
        <p:spPr>
          <a:xfrm xmlns:a="http://schemas.openxmlformats.org/drawingml/2006/main">
            <a:off x="8267700" y="3352800"/>
            <a:ext cx="1962150" cy="38100"/>
          </a:xfrm>
          <a:prstGeom xmlns:a="http://schemas.openxmlformats.org/drawingml/2006/main" prst="rect">
            <a:avLst/>
          </a:prstGeom>
          <a:solidFill xmlns:a="http://schemas.openxmlformats.org/drawingml/2006/main">
            <a:srgbClr val="24483B"/>
          </a:solidFill>
          <a:ln xmlns:a="http://schemas.openxmlformats.org/drawingml/2006/main" w="0">
            <a:solidFill>
              <a:srgbClr val="24483B"/>
            </a:solidFill>
          </a:ln>
        </p:spPr>
      </p:sp>
      <p:sp>
        <p:nvSpPr>
          <p:cNvPr id="11" name="">
            <a:extLst xmlns:a="http://schemas.openxmlformats.org/drawingml/2006/main">
              <a:ext uri="{FF2B5EF4-FFF2-40B4-BE49-F238E27FC236}">
                <a16:creationId xmlns:a16="http://schemas.microsoft.com/office/drawing/2014/main" id="{EBEC872F-BEE7-44A3-A6F0-0FC0996CC4B4}"/>
              </a:ext>
            </a:extLst>
          </p:cNvPr>
          <p:cNvSpPr>
            <a:spLocks xmlns:a="http://schemas.openxmlformats.org/drawingml/2006/main" noGrp="1"/>
          </p:cNvSpPr>
          <p:nvPr/>
        </p:nvSpPr>
        <p:spPr>
          <a:xfrm xmlns:a="http://schemas.openxmlformats.org/drawingml/2006/main">
            <a:off x="1028700" y="3028950"/>
            <a:ext cx="1333500" cy="323850"/>
          </a:xfrm>
          <a:prstGeom xmlns:a="http://schemas.openxmlformats.org/drawingml/2006/main" prst="rect">
            <a:avLst/>
          </a:prstGeom>
          <a:solidFill xmlns:a="http://schemas.openxmlformats.org/drawingml/2006/main">
            <a:srgbClr val="132923"/>
          </a:solidFill>
          <a:ln xmlns:a="http://schemas.openxmlformats.org/drawingml/2006/main" w="9525">
            <a:solidFill>
              <a:srgbClr val="2EE59D"/>
            </a:solidFill>
          </a:ln>
        </p:spPr>
        <p:txBody>
          <a:bodyPr xmlns:a="http://schemas.openxmlformats.org/drawingml/2006/main" lIns="95250" tIns="66675" rIns="95250" bIns="66675"/>
          <a:lstStyle xmlns:a="http://schemas.openxmlformats.org/drawingml/2006/main"/>
          <a:p xmlns:a="http://schemas.openxmlformats.org/drawingml/2006/main">
            <a:pPr algn="ctr">
              <a:defRPr sz="1050" b="1">
                <a:solidFill>
                  <a:srgbClr val="2EE59D"/>
                </a:solidFill>
                <a:latin typeface="Aptos"/>
                <a:ea typeface="Aptos"/>
                <a:cs typeface="Aptos"/>
              </a:defRPr>
            </a:pPr>
            <a:r>
              <a:rPr sz="1050" b="1">
                <a:solidFill>
                  <a:srgbClr val="2EE59D"/>
                </a:solidFill>
                <a:latin typeface="Aptos"/>
                <a:ea typeface="Aptos"/>
                <a:cs typeface="Aptos"/>
              </a:rPr>
              <a:t>Solana</a:t>
            </a:r>
          </a:p>
        </p:txBody>
      </p:sp>
      <p:sp>
        <p:nvSpPr>
          <p:cNvPr id="12" name="">
            <a:extLst xmlns:a="http://schemas.openxmlformats.org/drawingml/2006/main">
              <a:ext uri="{FF2B5EF4-FFF2-40B4-BE49-F238E27FC236}">
                <a16:creationId xmlns:a16="http://schemas.microsoft.com/office/drawing/2014/main" id="{1BEF2AEA-405F-4C14-AA2F-7EB1AC612407}"/>
              </a:ext>
            </a:extLst>
          </p:cNvPr>
          <p:cNvSpPr>
            <a:spLocks xmlns:a="http://schemas.openxmlformats.org/drawingml/2006/main" noGrp="1"/>
          </p:cNvSpPr>
          <p:nvPr/>
        </p:nvSpPr>
        <p:spPr>
          <a:xfrm xmlns:a="http://schemas.openxmlformats.org/drawingml/2006/main">
            <a:off x="9848850" y="3028950"/>
            <a:ext cx="1066800" cy="323850"/>
          </a:xfrm>
          <a:prstGeom xmlns:a="http://schemas.openxmlformats.org/drawingml/2006/main" prst="rect">
            <a:avLst/>
          </a:prstGeom>
          <a:solidFill xmlns:a="http://schemas.openxmlformats.org/drawingml/2006/main">
            <a:srgbClr val="132923"/>
          </a:solidFill>
          <a:ln xmlns:a="http://schemas.openxmlformats.org/drawingml/2006/main" w="9525">
            <a:solidFill>
              <a:srgbClr val="6BC7FF"/>
            </a:solidFill>
          </a:ln>
        </p:spPr>
        <p:txBody>
          <a:bodyPr xmlns:a="http://schemas.openxmlformats.org/drawingml/2006/main" lIns="95250" tIns="66675" rIns="95250" bIns="66675"/>
          <a:lstStyle xmlns:a="http://schemas.openxmlformats.org/drawingml/2006/main"/>
          <a:p xmlns:a="http://schemas.openxmlformats.org/drawingml/2006/main">
            <a:pPr algn="ctr">
              <a:defRPr sz="1050" b="1">
                <a:solidFill>
                  <a:srgbClr val="6BC7FF"/>
                </a:solidFill>
                <a:latin typeface="Aptos"/>
                <a:ea typeface="Aptos"/>
                <a:cs typeface="Aptos"/>
              </a:defRPr>
            </a:pPr>
            <a:r>
              <a:rPr sz="1050" b="1">
                <a:solidFill>
                  <a:srgbClr val="6BC7FF"/>
                </a:solidFill>
                <a:latin typeface="Aptos"/>
                <a:ea typeface="Aptos"/>
                <a:cs typeface="Aptos"/>
              </a:rPr>
              <a:t>Sui</a:t>
            </a:r>
          </a:p>
        </p:txBody>
      </p:sp>
      <p:sp>
        <p:nvSpPr>
          <p:cNvPr id="13" name="">
            <a:extLst xmlns:a="http://schemas.openxmlformats.org/drawingml/2006/main">
              <a:ext uri="{FF2B5EF4-FFF2-40B4-BE49-F238E27FC236}">
                <a16:creationId xmlns:a16="http://schemas.microsoft.com/office/drawing/2014/main" id="{CF5C1C79-FEC0-4673-8DAA-8228784B0735}"/>
              </a:ext>
            </a:extLst>
          </p:cNvPr>
          <p:cNvSpPr>
            <a:spLocks xmlns:a="http://schemas.openxmlformats.org/drawingml/2006/main" noGrp="1"/>
          </p:cNvSpPr>
          <p:nvPr/>
        </p:nvSpPr>
        <p:spPr>
          <a:xfrm xmlns:a="http://schemas.openxmlformats.org/drawingml/2006/main">
            <a:off x="666750" y="4400550"/>
            <a:ext cx="4953000" cy="121920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4" name="">
            <a:extLst xmlns:a="http://schemas.openxmlformats.org/drawingml/2006/main">
              <a:ext uri="{FF2B5EF4-FFF2-40B4-BE49-F238E27FC236}">
                <a16:creationId xmlns:a16="http://schemas.microsoft.com/office/drawing/2014/main" id="{124B492D-DC10-4614-843E-BC7E9A798C22}"/>
              </a:ext>
            </a:extLst>
          </p:cNvPr>
          <p:cNvSpPr>
            <a:spLocks xmlns:a="http://schemas.openxmlformats.org/drawingml/2006/main" noGrp="1"/>
          </p:cNvSpPr>
          <p:nvPr/>
        </p:nvSpPr>
        <p:spPr>
          <a:xfrm xmlns:a="http://schemas.openxmlformats.org/drawingml/2006/main">
            <a:off x="666750" y="4400550"/>
            <a:ext cx="57150" cy="12192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15" name="">
            <a:extLst xmlns:a="http://schemas.openxmlformats.org/drawingml/2006/main">
              <a:ext uri="{FF2B5EF4-FFF2-40B4-BE49-F238E27FC236}">
                <a16:creationId xmlns:a16="http://schemas.microsoft.com/office/drawing/2014/main" id="{F3FE6963-8F50-4608-8E80-2A905809B39C}"/>
              </a:ext>
            </a:extLst>
          </p:cNvPr>
          <p:cNvSpPr>
            <a:spLocks xmlns:a="http://schemas.openxmlformats.org/drawingml/2006/main" noGrp="1"/>
          </p:cNvSpPr>
          <p:nvPr/>
        </p:nvSpPr>
        <p:spPr>
          <a:xfrm xmlns:a="http://schemas.openxmlformats.org/drawingml/2006/main">
            <a:off x="876300" y="4572000"/>
            <a:ext cx="459105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Solana path</a:t>
            </a:r>
          </a:p>
        </p:txBody>
      </p:sp>
      <p:sp>
        <p:nvSpPr>
          <p:cNvPr id="16" name="">
            <a:extLst xmlns:a="http://schemas.openxmlformats.org/drawingml/2006/main">
              <a:ext uri="{FF2B5EF4-FFF2-40B4-BE49-F238E27FC236}">
                <a16:creationId xmlns:a16="http://schemas.microsoft.com/office/drawing/2014/main" id="{0A6422DD-7F35-4917-96D4-E855C287F132}"/>
              </a:ext>
            </a:extLst>
          </p:cNvPr>
          <p:cNvSpPr>
            <a:spLocks xmlns:a="http://schemas.openxmlformats.org/drawingml/2006/main" noGrp="1"/>
          </p:cNvSpPr>
          <p:nvPr/>
        </p:nvSpPr>
        <p:spPr>
          <a:xfrm xmlns:a="http://schemas.openxmlformats.org/drawingml/2006/main">
            <a:off x="876300" y="4953000"/>
            <a:ext cx="4591050" cy="5524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Pinocchio program, commitment tree, JoinSplit verifier, on-chain redemption policy, Ika dWallet approve_message CPI.</a:t>
            </a:r>
          </a:p>
        </p:txBody>
      </p:sp>
      <p:sp>
        <p:nvSpPr>
          <p:cNvPr id="17" name="">
            <a:extLst xmlns:a="http://schemas.openxmlformats.org/drawingml/2006/main">
              <a:ext uri="{FF2B5EF4-FFF2-40B4-BE49-F238E27FC236}">
                <a16:creationId xmlns:a16="http://schemas.microsoft.com/office/drawing/2014/main" id="{92999645-76C3-460D-B989-971EA0A81D8D}"/>
              </a:ext>
            </a:extLst>
          </p:cNvPr>
          <p:cNvSpPr>
            <a:spLocks xmlns:a="http://schemas.openxmlformats.org/drawingml/2006/main" noGrp="1"/>
          </p:cNvSpPr>
          <p:nvPr/>
        </p:nvSpPr>
        <p:spPr>
          <a:xfrm xmlns:a="http://schemas.openxmlformats.org/drawingml/2006/main">
            <a:off x="6572250" y="4400550"/>
            <a:ext cx="4953000" cy="121920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8" name="">
            <a:extLst xmlns:a="http://schemas.openxmlformats.org/drawingml/2006/main">
              <a:ext uri="{FF2B5EF4-FFF2-40B4-BE49-F238E27FC236}">
                <a16:creationId xmlns:a16="http://schemas.microsoft.com/office/drawing/2014/main" id="{CC1D5FCF-C1B4-478B-8CD1-F9C24D3EC589}"/>
              </a:ext>
            </a:extLst>
          </p:cNvPr>
          <p:cNvSpPr>
            <a:spLocks xmlns:a="http://schemas.openxmlformats.org/drawingml/2006/main" noGrp="1"/>
          </p:cNvSpPr>
          <p:nvPr/>
        </p:nvSpPr>
        <p:spPr>
          <a:xfrm xmlns:a="http://schemas.openxmlformats.org/drawingml/2006/main">
            <a:off x="6572250" y="4400550"/>
            <a:ext cx="57150" cy="121920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sp>
      <p:sp>
        <p:nvSpPr>
          <p:cNvPr id="19" name="">
            <a:extLst xmlns:a="http://schemas.openxmlformats.org/drawingml/2006/main">
              <a:ext uri="{FF2B5EF4-FFF2-40B4-BE49-F238E27FC236}">
                <a16:creationId xmlns:a16="http://schemas.microsoft.com/office/drawing/2014/main" id="{61EFA54C-2783-46B8-B2A5-D48E108D0135}"/>
              </a:ext>
            </a:extLst>
          </p:cNvPr>
          <p:cNvSpPr>
            <a:spLocks xmlns:a="http://schemas.openxmlformats.org/drawingml/2006/main" noGrp="1"/>
          </p:cNvSpPr>
          <p:nvPr/>
        </p:nvSpPr>
        <p:spPr>
          <a:xfrm xmlns:a="http://schemas.openxmlformats.org/drawingml/2006/main">
            <a:off x="6781800" y="4572000"/>
            <a:ext cx="459105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Sui path</a:t>
            </a:r>
          </a:p>
        </p:txBody>
      </p:sp>
      <p:sp>
        <p:nvSpPr>
          <p:cNvPr id="20" name="">
            <a:extLst xmlns:a="http://schemas.openxmlformats.org/drawingml/2006/main">
              <a:ext uri="{FF2B5EF4-FFF2-40B4-BE49-F238E27FC236}">
                <a16:creationId xmlns:a16="http://schemas.microsoft.com/office/drawing/2014/main" id="{5653FC99-E9E0-41D9-9D4B-FF9C7CB49E06}"/>
              </a:ext>
            </a:extLst>
          </p:cNvPr>
          <p:cNvSpPr>
            <a:spLocks xmlns:a="http://schemas.openxmlformats.org/drawingml/2006/main" noGrp="1"/>
          </p:cNvSpPr>
          <p:nvPr/>
        </p:nvSpPr>
        <p:spPr>
          <a:xfrm xmlns:a="http://schemas.openxmlformats.org/drawingml/2006/main">
            <a:off x="6781800" y="4953000"/>
            <a:ext cx="4591050" cy="5524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Move package, shared objects and caps, programmable transaction blocks, events, faucet, explorer stats, local relayer/test signer POC.</a:t>
            </a:r>
          </a:p>
        </p:txBody>
      </p:sp>
      <p:sp>
        <p:nvSpPr>
          <p:cNvPr id="21" name="">
            <a:extLst xmlns:a="http://schemas.openxmlformats.org/drawingml/2006/main">
              <a:ext uri="{FF2B5EF4-FFF2-40B4-BE49-F238E27FC236}">
                <a16:creationId xmlns:a16="http://schemas.microsoft.com/office/drawing/2014/main" id="{30EF9521-14C2-4EF9-B3FB-F19C6773DF15}"/>
              </a:ext>
            </a:extLst>
          </p:cNvPr>
          <p:cNvSpPr>
            <a:spLocks xmlns:a="http://schemas.openxmlformats.org/drawingml/2006/main" noGrp="1"/>
          </p:cNvSpPr>
          <p:nvPr/>
        </p:nvSpPr>
        <p:spPr>
          <a:xfrm xmlns:a="http://schemas.openxmlformats.org/drawingml/2006/main">
            <a:off x="2190750" y="5905500"/>
            <a:ext cx="7810500" cy="4572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ctr">
              <a:defRPr sz="1200" b="1">
                <a:solidFill>
                  <a:srgbClr val="FFB45C"/>
                </a:solidFill>
                <a:latin typeface="Aptos"/>
                <a:ea typeface="Aptos"/>
                <a:cs typeface="Aptos"/>
              </a:defRPr>
            </a:pPr>
            <a:r>
              <a:rPr sz="1200" b="1">
                <a:solidFill>
                  <a:srgbClr val="FFB45C"/>
                </a:solidFill>
                <a:latin typeface="Aptos"/>
                <a:ea typeface="Aptos"/>
                <a:cs typeface="Aptos"/>
              </a:rPr>
              <a:t>Custody note: Ika is Solana-specific in the current implementation; the Sui demo does not claim native Ika signing.</a:t>
            </a:r>
          </a:p>
        </p:txBody>
      </p:sp>
      <p:sp>
        <p:nvSpPr>
          <p:cNvPr id="22" name="">
            <a:extLst xmlns:a="http://schemas.openxmlformats.org/drawingml/2006/main">
              <a:ext uri="{FF2B5EF4-FFF2-40B4-BE49-F238E27FC236}">
                <a16:creationId xmlns:a16="http://schemas.microsoft.com/office/drawing/2014/main" id="{40F0654D-AC4D-4DB2-969D-969B174001D4}"/>
              </a:ext>
            </a:extLst>
          </p:cNvPr>
          <p:cNvSpPr>
            <a:spLocks xmlns:a="http://schemas.openxmlformats.org/drawingml/2006/main" noGrp="1"/>
          </p:cNvSpPr>
          <p:nvPr/>
        </p:nvSpPr>
        <p:spPr>
          <a:xfrm xmlns:a="http://schemas.openxmlformats.org/drawingml/2006/main">
            <a:off x="514350" y="6438900"/>
            <a:ext cx="4000500" cy="2286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825" b="0">
                <a:solidFill>
                  <a:srgbClr val="557166"/>
                </a:solidFill>
                <a:latin typeface="Aptos"/>
                <a:ea typeface="Aptos"/>
                <a:cs typeface="Aptos"/>
              </a:defRPr>
            </a:pPr>
            <a:r>
              <a:rPr sz="825" b="0">
                <a:solidFill>
                  <a:srgbClr val="557166"/>
                </a:solidFill>
                <a:latin typeface="Aptos"/>
                <a:ea typeface="Aptos"/>
                <a:cs typeface="Aptos"/>
              </a:rPr>
              <a:t>UTXOpia showcase | 5 minutes</a:t>
            </a:r>
          </a:p>
        </p:txBody>
      </p:sp>
    </p:spTree>
    <p:extLst>
      <p:ext uri="{BB962C8B-B14F-4D97-AF65-F5344CB8AC3E}">
        <p14:creationId xmlns:p14="http://schemas.microsoft.com/office/powerpoint/2010/main" val="1392221569"/>
      </p:ext>
    </p:extLst>
  </p:cSld>
</p:sld>
</file>

<file path=ppt/slides/slide4.xml><?xml version="1.0" encoding="utf-8"?>
<p:sld xmlns:p="http://schemas.openxmlformats.org/presentationml/2006/main">
  <p:cSld>
    <p:bg>
      <p:bgPr>
        <a:solidFill xmlns:a="http://schemas.openxmlformats.org/drawingml/2006/main">
          <a:srgbClr val="0610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86AC96-FDA7-4B4D-85DE-D67DFDCE86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sp>
      <p:sp>
        <p:nvSpPr>
          <p:cNvPr id="2" name="">
            <a:extLst xmlns:a="http://schemas.openxmlformats.org/drawingml/2006/main">
              <a:ext uri="{FF2B5EF4-FFF2-40B4-BE49-F238E27FC236}">
                <a16:creationId xmlns:a16="http://schemas.microsoft.com/office/drawing/2014/main" id="{A0F9D362-F655-49C3-8D24-BAB4C48C73BC}"/>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3" name="">
            <a:extLst xmlns:a="http://schemas.openxmlformats.org/drawingml/2006/main">
              <a:ext uri="{FF2B5EF4-FFF2-40B4-BE49-F238E27FC236}">
                <a16:creationId xmlns:a16="http://schemas.microsoft.com/office/drawing/2014/main" id="{3B8BE821-623F-458E-A189-D2BDEA6431DE}"/>
              </a:ext>
            </a:extLst>
          </p:cNvPr>
          <p:cNvSpPr>
            <a:spLocks xmlns:a="http://schemas.openxmlformats.org/drawingml/2006/main" noGrp="1"/>
          </p:cNvSpPr>
          <p:nvPr/>
        </p:nvSpPr>
        <p:spPr>
          <a:xfrm xmlns:a="http://schemas.openxmlformats.org/drawingml/2006/main">
            <a:off x="514350" y="323850"/>
            <a:ext cx="34290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38100" rIns="0" bIns="38100"/>
          <a:lstStyle xmlns:a="http://schemas.openxmlformats.org/drawingml/2006/main"/>
          <a:p xmlns:a="http://schemas.openxmlformats.org/drawingml/2006/main">
            <a:pPr algn="l">
              <a:defRPr sz="1050" b="1">
                <a:solidFill>
                  <a:srgbClr val="2EE59D"/>
                </a:solidFill>
                <a:latin typeface="Aptos"/>
                <a:ea typeface="Aptos"/>
                <a:cs typeface="Aptos"/>
              </a:defRPr>
            </a:pPr>
            <a:r>
              <a:rPr sz="1050" b="1">
                <a:solidFill>
                  <a:srgbClr val="2EE59D"/>
                </a:solidFill>
                <a:latin typeface="Aptos"/>
                <a:ea typeface="Aptos"/>
                <a:cs typeface="Aptos"/>
              </a:rPr>
              <a:t>LIVE DEMO</a:t>
            </a:r>
          </a:p>
        </p:txBody>
      </p:sp>
      <p:sp>
        <p:nvSpPr>
          <p:cNvPr id="4" name="">
            <a:extLst xmlns:a="http://schemas.openxmlformats.org/drawingml/2006/main">
              <a:ext uri="{FF2B5EF4-FFF2-40B4-BE49-F238E27FC236}">
                <a16:creationId xmlns:a16="http://schemas.microsoft.com/office/drawing/2014/main" id="{1F991EFB-A1DA-457D-95C1-C5B1B9A95D4B}"/>
              </a:ext>
            </a:extLst>
          </p:cNvPr>
          <p:cNvSpPr>
            <a:spLocks xmlns:a="http://schemas.openxmlformats.org/drawingml/2006/main" noGrp="1"/>
          </p:cNvSpPr>
          <p:nvPr/>
        </p:nvSpPr>
        <p:spPr>
          <a:xfrm xmlns:a="http://schemas.openxmlformats.org/drawingml/2006/main">
            <a:off x="514350" y="781050"/>
            <a:ext cx="6667500" cy="9906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3225" b="1">
                <a:solidFill>
                  <a:srgbClr val="F4FFF9"/>
                </a:solidFill>
                <a:latin typeface="Aptos Display"/>
                <a:ea typeface="Aptos Display"/>
                <a:cs typeface="Aptos Display"/>
              </a:defRPr>
            </a:pPr>
            <a:r>
              <a:rPr sz="3225" b="1">
                <a:solidFill>
                  <a:srgbClr val="F4FFF9"/>
                </a:solidFill>
                <a:latin typeface="Aptos Display"/>
                <a:ea typeface="Aptos Display"/>
                <a:cs typeface="Aptos Display"/>
              </a:rPr>
              <a:t>3-minute path: faucet to commitment to private transfer</a:t>
            </a:r>
          </a:p>
        </p:txBody>
      </p:sp>
      <p:sp>
        <p:nvSpPr>
          <p:cNvPr id="5" name="">
            <a:extLst xmlns:a="http://schemas.openxmlformats.org/drawingml/2006/main">
              <a:ext uri="{FF2B5EF4-FFF2-40B4-BE49-F238E27FC236}">
                <a16:creationId xmlns:a16="http://schemas.microsoft.com/office/drawing/2014/main" id="{E78B5379-6D33-4C73-9D32-932CA9A7EF98}"/>
              </a:ext>
            </a:extLst>
          </p:cNvPr>
          <p:cNvSpPr>
            <a:spLocks xmlns:a="http://schemas.openxmlformats.org/drawingml/2006/main" noGrp="1"/>
          </p:cNvSpPr>
          <p:nvPr/>
        </p:nvSpPr>
        <p:spPr>
          <a:xfrm xmlns:a="http://schemas.openxmlformats.org/drawingml/2006/main">
            <a:off x="533400" y="1809750"/>
            <a:ext cx="6762750" cy="7810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1575" b="0">
                <a:solidFill>
                  <a:srgbClr val="A7BDB3"/>
                </a:solidFill>
                <a:latin typeface="Aptos"/>
                <a:ea typeface="Aptos"/>
                <a:cs typeface="Aptos"/>
              </a:defRPr>
            </a:pPr>
            <a:r>
              <a:rPr sz="1575" b="0">
                <a:solidFill>
                  <a:srgbClr val="A7BDB3"/>
                </a:solidFill>
                <a:latin typeface="Aptos"/>
                <a:ea typeface="Aptos"/>
                <a:cs typeface="Aptos"/>
              </a:rPr>
              <a:t>Use Sui Hybrid/regtest for the live path. The fallback is to show existing explorer events and counters if the faucet has already been used.</a:t>
            </a:r>
          </a:p>
        </p:txBody>
      </p:sp>
      <p:sp>
        <p:nvSpPr>
          <p:cNvPr id="6" name="">
            <a:extLst xmlns:a="http://schemas.openxmlformats.org/drawingml/2006/main">
              <a:ext uri="{FF2B5EF4-FFF2-40B4-BE49-F238E27FC236}">
                <a16:creationId xmlns:a16="http://schemas.microsoft.com/office/drawing/2014/main" id="{5F94E11C-7AB8-480C-BC96-AD3D5D270313}"/>
              </a:ext>
            </a:extLst>
          </p:cNvPr>
          <p:cNvSpPr>
            <a:spLocks xmlns:a="http://schemas.openxmlformats.org/drawingml/2006/main" noGrp="1"/>
          </p:cNvSpPr>
          <p:nvPr/>
        </p:nvSpPr>
        <p:spPr>
          <a:xfrm xmlns:a="http://schemas.openxmlformats.org/drawingml/2006/main">
            <a:off x="838200" y="2781300"/>
            <a:ext cx="552450" cy="55245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sp>
      <p:sp>
        <p:nvSpPr>
          <p:cNvPr id="7" name="">
            <a:extLst xmlns:a="http://schemas.openxmlformats.org/drawingml/2006/main">
              <a:ext uri="{FF2B5EF4-FFF2-40B4-BE49-F238E27FC236}">
                <a16:creationId xmlns:a16="http://schemas.microsoft.com/office/drawing/2014/main" id="{55AABC13-E429-46C6-B8DA-E6CC6E1091FD}"/>
              </a:ext>
            </a:extLst>
          </p:cNvPr>
          <p:cNvSpPr>
            <a:spLocks xmlns:a="http://schemas.openxmlformats.org/drawingml/2006/main" noGrp="1"/>
          </p:cNvSpPr>
          <p:nvPr/>
        </p:nvSpPr>
        <p:spPr>
          <a:xfrm xmlns:a="http://schemas.openxmlformats.org/drawingml/2006/main">
            <a:off x="838200" y="2857500"/>
            <a:ext cx="552450" cy="36195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txBody>
          <a:bodyPr xmlns:a="http://schemas.openxmlformats.org/drawingml/2006/main" lIns="76200" tIns="57150" rIns="76200" bIns="57150"/>
          <a:lstStyle xmlns:a="http://schemas.openxmlformats.org/drawingml/2006/main"/>
          <a:p xmlns:a="http://schemas.openxmlformats.org/drawingml/2006/main">
            <a:pPr algn="ctr">
              <a:defRPr sz="1875" b="1">
                <a:solidFill>
                  <a:srgbClr val="06100D"/>
                </a:solidFill>
                <a:latin typeface="Aptos"/>
                <a:ea typeface="Aptos"/>
                <a:cs typeface="Aptos"/>
              </a:defRPr>
            </a:pPr>
            <a:r>
              <a:rPr sz="1875" b="1">
                <a:solidFill>
                  <a:srgbClr val="06100D"/>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0BA5CE66-DB74-4900-8790-437228E5E2E8}"/>
              </a:ext>
            </a:extLst>
          </p:cNvPr>
          <p:cNvSpPr>
            <a:spLocks xmlns:a="http://schemas.openxmlformats.org/drawingml/2006/main" noGrp="1"/>
          </p:cNvSpPr>
          <p:nvPr/>
        </p:nvSpPr>
        <p:spPr>
          <a:xfrm xmlns:a="http://schemas.openxmlformats.org/drawingml/2006/main">
            <a:off x="1657350" y="2762250"/>
            <a:ext cx="3810000" cy="2667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500" b="1">
                <a:solidFill>
                  <a:srgbClr val="F4FFF9"/>
                </a:solidFill>
                <a:latin typeface="Aptos"/>
                <a:ea typeface="Aptos"/>
                <a:cs typeface="Aptos"/>
              </a:defRPr>
            </a:pPr>
            <a:r>
              <a:rPr sz="1500" b="1">
                <a:solidFill>
                  <a:srgbClr val="F4FFF9"/>
                </a:solidFill>
                <a:latin typeface="Aptos"/>
                <a:ea typeface="Aptos"/>
                <a:cs typeface="Aptos"/>
              </a:rPr>
              <a:t>Select Sui Hybrid</a:t>
            </a:r>
          </a:p>
        </p:txBody>
      </p:sp>
      <p:sp>
        <p:nvSpPr>
          <p:cNvPr id="9" name="">
            <a:extLst xmlns:a="http://schemas.openxmlformats.org/drawingml/2006/main">
              <a:ext uri="{FF2B5EF4-FFF2-40B4-BE49-F238E27FC236}">
                <a16:creationId xmlns:a16="http://schemas.microsoft.com/office/drawing/2014/main" id="{70F03EE4-3352-4A71-A9B7-E3665D7AFEA4}"/>
              </a:ext>
            </a:extLst>
          </p:cNvPr>
          <p:cNvSpPr>
            <a:spLocks xmlns:a="http://schemas.openxmlformats.org/drawingml/2006/main" noGrp="1"/>
          </p:cNvSpPr>
          <p:nvPr/>
        </p:nvSpPr>
        <p:spPr>
          <a:xfrm xmlns:a="http://schemas.openxmlformats.org/drawingml/2006/main">
            <a:off x="1657350" y="3076575"/>
            <a:ext cx="4857750" cy="4381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Open the app on the Sui/regtest network and show the dashboard counters.</a:t>
            </a:r>
          </a:p>
        </p:txBody>
      </p:sp>
      <p:sp>
        <p:nvSpPr>
          <p:cNvPr id="10" name="">
            <a:extLst xmlns:a="http://schemas.openxmlformats.org/drawingml/2006/main">
              <a:ext uri="{FF2B5EF4-FFF2-40B4-BE49-F238E27FC236}">
                <a16:creationId xmlns:a16="http://schemas.microsoft.com/office/drawing/2014/main" id="{69403D65-B0C7-4F37-821A-783CC24B0406}"/>
              </a:ext>
            </a:extLst>
          </p:cNvPr>
          <p:cNvSpPr>
            <a:spLocks xmlns:a="http://schemas.openxmlformats.org/drawingml/2006/main" noGrp="1"/>
          </p:cNvSpPr>
          <p:nvPr/>
        </p:nvSpPr>
        <p:spPr>
          <a:xfrm xmlns:a="http://schemas.openxmlformats.org/drawingml/2006/main">
            <a:off x="838200" y="3562350"/>
            <a:ext cx="552450" cy="55245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11" name="">
            <a:extLst xmlns:a="http://schemas.openxmlformats.org/drawingml/2006/main">
              <a:ext uri="{FF2B5EF4-FFF2-40B4-BE49-F238E27FC236}">
                <a16:creationId xmlns:a16="http://schemas.microsoft.com/office/drawing/2014/main" id="{C5085F35-9312-4A02-87A0-1A30D490D3F8}"/>
              </a:ext>
            </a:extLst>
          </p:cNvPr>
          <p:cNvSpPr>
            <a:spLocks xmlns:a="http://schemas.openxmlformats.org/drawingml/2006/main" noGrp="1"/>
          </p:cNvSpPr>
          <p:nvPr/>
        </p:nvSpPr>
        <p:spPr>
          <a:xfrm xmlns:a="http://schemas.openxmlformats.org/drawingml/2006/main">
            <a:off x="838200" y="3638550"/>
            <a:ext cx="552450" cy="36195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txBody>
          <a:bodyPr xmlns:a="http://schemas.openxmlformats.org/drawingml/2006/main" lIns="76200" tIns="57150" rIns="76200" bIns="57150"/>
          <a:lstStyle xmlns:a="http://schemas.openxmlformats.org/drawingml/2006/main"/>
          <a:p xmlns:a="http://schemas.openxmlformats.org/drawingml/2006/main">
            <a:pPr algn="ctr">
              <a:defRPr sz="1875" b="1">
                <a:solidFill>
                  <a:srgbClr val="06100D"/>
                </a:solidFill>
                <a:latin typeface="Aptos"/>
                <a:ea typeface="Aptos"/>
                <a:cs typeface="Aptos"/>
              </a:defRPr>
            </a:pPr>
            <a:r>
              <a:rPr sz="1875" b="1">
                <a:solidFill>
                  <a:srgbClr val="06100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1A1B3043-1DCF-4E32-A31B-7CF60ACFAD4C}"/>
              </a:ext>
            </a:extLst>
          </p:cNvPr>
          <p:cNvSpPr>
            <a:spLocks xmlns:a="http://schemas.openxmlformats.org/drawingml/2006/main" noGrp="1"/>
          </p:cNvSpPr>
          <p:nvPr/>
        </p:nvSpPr>
        <p:spPr>
          <a:xfrm xmlns:a="http://schemas.openxmlformats.org/drawingml/2006/main">
            <a:off x="1657350" y="3543300"/>
            <a:ext cx="3810000" cy="2667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500" b="1">
                <a:solidFill>
                  <a:srgbClr val="F4FFF9"/>
                </a:solidFill>
                <a:latin typeface="Aptos"/>
                <a:ea typeface="Aptos"/>
                <a:cs typeface="Aptos"/>
              </a:defRPr>
            </a:pPr>
            <a:r>
              <a:rPr sz="1500" b="1">
                <a:solidFill>
                  <a:srgbClr val="F4FFF9"/>
                </a:solidFill>
                <a:latin typeface="Aptos"/>
                <a:ea typeface="Aptos"/>
                <a:cs typeface="Aptos"/>
              </a:rPr>
              <a:t>Generate or paste utxo: address</a:t>
            </a:r>
          </a:p>
        </p:txBody>
      </p:sp>
      <p:sp>
        <p:nvSpPr>
          <p:cNvPr id="13" name="">
            <a:extLst xmlns:a="http://schemas.openxmlformats.org/drawingml/2006/main">
              <a:ext uri="{FF2B5EF4-FFF2-40B4-BE49-F238E27FC236}">
                <a16:creationId xmlns:a16="http://schemas.microsoft.com/office/drawing/2014/main" id="{026BE760-815B-42FC-8FBE-269C2BC3939C}"/>
              </a:ext>
            </a:extLst>
          </p:cNvPr>
          <p:cNvSpPr>
            <a:spLocks xmlns:a="http://schemas.openxmlformats.org/drawingml/2006/main" noGrp="1"/>
          </p:cNvSpPr>
          <p:nvPr/>
        </p:nvSpPr>
        <p:spPr>
          <a:xfrm xmlns:a="http://schemas.openxmlformats.org/drawingml/2006/main">
            <a:off x="1657350" y="3857625"/>
            <a:ext cx="4857750" cy="4381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Use the wallet/vault screen so the audience sees a shielded recipient, not a public token account.</a:t>
            </a:r>
          </a:p>
        </p:txBody>
      </p:sp>
      <p:sp>
        <p:nvSpPr>
          <p:cNvPr id="14" name="">
            <a:extLst xmlns:a="http://schemas.openxmlformats.org/drawingml/2006/main">
              <a:ext uri="{FF2B5EF4-FFF2-40B4-BE49-F238E27FC236}">
                <a16:creationId xmlns:a16="http://schemas.microsoft.com/office/drawing/2014/main" id="{34B445B6-0C00-4959-89F3-9F8C639AC7F6}"/>
              </a:ext>
            </a:extLst>
          </p:cNvPr>
          <p:cNvSpPr>
            <a:spLocks xmlns:a="http://schemas.openxmlformats.org/drawingml/2006/main" noGrp="1"/>
          </p:cNvSpPr>
          <p:nvPr/>
        </p:nvSpPr>
        <p:spPr>
          <a:xfrm xmlns:a="http://schemas.openxmlformats.org/drawingml/2006/main">
            <a:off x="838200" y="4343400"/>
            <a:ext cx="552450" cy="552450"/>
          </a:xfrm>
          <a:prstGeom xmlns:a="http://schemas.openxmlformats.org/drawingml/2006/main" prst="rect">
            <a:avLst/>
          </a:prstGeom>
          <a:solidFill xmlns:a="http://schemas.openxmlformats.org/drawingml/2006/main">
            <a:srgbClr val="FFB45C"/>
          </a:solidFill>
          <a:ln xmlns:a="http://schemas.openxmlformats.org/drawingml/2006/main" w="0">
            <a:solidFill>
              <a:srgbClr val="FFB45C"/>
            </a:solidFill>
          </a:ln>
        </p:spPr>
      </p:sp>
      <p:sp>
        <p:nvSpPr>
          <p:cNvPr id="15" name="">
            <a:extLst xmlns:a="http://schemas.openxmlformats.org/drawingml/2006/main">
              <a:ext uri="{FF2B5EF4-FFF2-40B4-BE49-F238E27FC236}">
                <a16:creationId xmlns:a16="http://schemas.microsoft.com/office/drawing/2014/main" id="{5B1E9935-B07F-4954-B70A-60442F8F1EF7}"/>
              </a:ext>
            </a:extLst>
          </p:cNvPr>
          <p:cNvSpPr>
            <a:spLocks xmlns:a="http://schemas.openxmlformats.org/drawingml/2006/main" noGrp="1"/>
          </p:cNvSpPr>
          <p:nvPr/>
        </p:nvSpPr>
        <p:spPr>
          <a:xfrm xmlns:a="http://schemas.openxmlformats.org/drawingml/2006/main">
            <a:off x="838200" y="4419600"/>
            <a:ext cx="552450" cy="361950"/>
          </a:xfrm>
          <a:prstGeom xmlns:a="http://schemas.openxmlformats.org/drawingml/2006/main" prst="rect">
            <a:avLst/>
          </a:prstGeom>
          <a:solidFill xmlns:a="http://schemas.openxmlformats.org/drawingml/2006/main">
            <a:srgbClr val="FFB45C"/>
          </a:solidFill>
          <a:ln xmlns:a="http://schemas.openxmlformats.org/drawingml/2006/main" w="0">
            <a:solidFill>
              <a:srgbClr val="FFB45C"/>
            </a:solidFill>
          </a:ln>
        </p:spPr>
        <p:txBody>
          <a:bodyPr xmlns:a="http://schemas.openxmlformats.org/drawingml/2006/main" lIns="76200" tIns="57150" rIns="76200" bIns="57150"/>
          <a:lstStyle xmlns:a="http://schemas.openxmlformats.org/drawingml/2006/main"/>
          <a:p xmlns:a="http://schemas.openxmlformats.org/drawingml/2006/main">
            <a:pPr algn="ctr">
              <a:defRPr sz="1875" b="1">
                <a:solidFill>
                  <a:srgbClr val="06100D"/>
                </a:solidFill>
                <a:latin typeface="Aptos"/>
                <a:ea typeface="Aptos"/>
                <a:cs typeface="Aptos"/>
              </a:defRPr>
            </a:pPr>
            <a:r>
              <a:rPr sz="1875" b="1">
                <a:solidFill>
                  <a:srgbClr val="06100D"/>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84F2ECC4-550E-43DC-8899-6F4F8EB91256}"/>
              </a:ext>
            </a:extLst>
          </p:cNvPr>
          <p:cNvSpPr>
            <a:spLocks xmlns:a="http://schemas.openxmlformats.org/drawingml/2006/main" noGrp="1"/>
          </p:cNvSpPr>
          <p:nvPr/>
        </p:nvSpPr>
        <p:spPr>
          <a:xfrm xmlns:a="http://schemas.openxmlformats.org/drawingml/2006/main">
            <a:off x="1657350" y="4324350"/>
            <a:ext cx="3810000" cy="2667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500" b="1">
                <a:solidFill>
                  <a:srgbClr val="F4FFF9"/>
                </a:solidFill>
                <a:latin typeface="Aptos"/>
                <a:ea typeface="Aptos"/>
                <a:cs typeface="Aptos"/>
              </a:defRPr>
            </a:pPr>
            <a:r>
              <a:rPr sz="1500" b="1">
                <a:solidFill>
                  <a:srgbClr val="F4FFF9"/>
                </a:solidFill>
                <a:latin typeface="Aptos"/>
                <a:ea typeface="Aptos"/>
                <a:cs typeface="Aptos"/>
              </a:rPr>
              <a:t>Use the faucet</a:t>
            </a:r>
          </a:p>
        </p:txBody>
      </p:sp>
      <p:sp>
        <p:nvSpPr>
          <p:cNvPr id="17" name="">
            <a:extLst xmlns:a="http://schemas.openxmlformats.org/drawingml/2006/main">
              <a:ext uri="{FF2B5EF4-FFF2-40B4-BE49-F238E27FC236}">
                <a16:creationId xmlns:a16="http://schemas.microsoft.com/office/drawing/2014/main" id="{1D554C22-6A53-49DF-93A2-C4CF1871B866}"/>
              </a:ext>
            </a:extLst>
          </p:cNvPr>
          <p:cNvSpPr>
            <a:spLocks xmlns:a="http://schemas.openxmlformats.org/drawingml/2006/main" noGrp="1"/>
          </p:cNvSpPr>
          <p:nvPr/>
        </p:nvSpPr>
        <p:spPr>
          <a:xfrm xmlns:a="http://schemas.openxmlformats.org/drawingml/2006/main">
            <a:off x="1657350" y="4638675"/>
            <a:ext cx="4857750" cy="4381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Request a regtest BTC deposit; the fixed path should read the active network instead of network=unknown.</a:t>
            </a:r>
          </a:p>
        </p:txBody>
      </p:sp>
      <p:sp>
        <p:nvSpPr>
          <p:cNvPr id="18" name="">
            <a:extLst xmlns:a="http://schemas.openxmlformats.org/drawingml/2006/main">
              <a:ext uri="{FF2B5EF4-FFF2-40B4-BE49-F238E27FC236}">
                <a16:creationId xmlns:a16="http://schemas.microsoft.com/office/drawing/2014/main" id="{84D1F1D9-BE90-4B48-9F36-3E65CFE89580}"/>
              </a:ext>
            </a:extLst>
          </p:cNvPr>
          <p:cNvSpPr>
            <a:spLocks xmlns:a="http://schemas.openxmlformats.org/drawingml/2006/main" noGrp="1"/>
          </p:cNvSpPr>
          <p:nvPr/>
        </p:nvSpPr>
        <p:spPr>
          <a:xfrm xmlns:a="http://schemas.openxmlformats.org/drawingml/2006/main">
            <a:off x="838200" y="5124450"/>
            <a:ext cx="552450" cy="55245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sp>
      <p:sp>
        <p:nvSpPr>
          <p:cNvPr id="19" name="">
            <a:extLst xmlns:a="http://schemas.openxmlformats.org/drawingml/2006/main">
              <a:ext uri="{FF2B5EF4-FFF2-40B4-BE49-F238E27FC236}">
                <a16:creationId xmlns:a16="http://schemas.microsoft.com/office/drawing/2014/main" id="{0CB8DF47-1213-48FA-A495-AFB9747AFB44}"/>
              </a:ext>
            </a:extLst>
          </p:cNvPr>
          <p:cNvSpPr>
            <a:spLocks xmlns:a="http://schemas.openxmlformats.org/drawingml/2006/main" noGrp="1"/>
          </p:cNvSpPr>
          <p:nvPr/>
        </p:nvSpPr>
        <p:spPr>
          <a:xfrm xmlns:a="http://schemas.openxmlformats.org/drawingml/2006/main">
            <a:off x="838200" y="5200650"/>
            <a:ext cx="552450" cy="36195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txBody>
          <a:bodyPr xmlns:a="http://schemas.openxmlformats.org/drawingml/2006/main" lIns="76200" tIns="57150" rIns="76200" bIns="57150"/>
          <a:lstStyle xmlns:a="http://schemas.openxmlformats.org/drawingml/2006/main"/>
          <a:p xmlns:a="http://schemas.openxmlformats.org/drawingml/2006/main">
            <a:pPr algn="ctr">
              <a:defRPr sz="1875" b="1">
                <a:solidFill>
                  <a:srgbClr val="06100D"/>
                </a:solidFill>
                <a:latin typeface="Aptos"/>
                <a:ea typeface="Aptos"/>
                <a:cs typeface="Aptos"/>
              </a:defRPr>
            </a:pPr>
            <a:r>
              <a:rPr sz="1875" b="1">
                <a:solidFill>
                  <a:srgbClr val="06100D"/>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E0E92481-0C51-4313-ACFF-A418BAA4239F}"/>
              </a:ext>
            </a:extLst>
          </p:cNvPr>
          <p:cNvSpPr>
            <a:spLocks xmlns:a="http://schemas.openxmlformats.org/drawingml/2006/main" noGrp="1"/>
          </p:cNvSpPr>
          <p:nvPr/>
        </p:nvSpPr>
        <p:spPr>
          <a:xfrm xmlns:a="http://schemas.openxmlformats.org/drawingml/2006/main">
            <a:off x="1657350" y="5105400"/>
            <a:ext cx="3810000" cy="2667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500" b="1">
                <a:solidFill>
                  <a:srgbClr val="F4FFF9"/>
                </a:solidFill>
                <a:latin typeface="Aptos"/>
                <a:ea typeface="Aptos"/>
                <a:cs typeface="Aptos"/>
              </a:defRPr>
            </a:pPr>
            <a:r>
              <a:rPr sz="1500" b="1">
                <a:solidFill>
                  <a:srgbClr val="F4FFF9"/>
                </a:solidFill>
                <a:latin typeface="Aptos"/>
                <a:ea typeface="Aptos"/>
                <a:cs typeface="Aptos"/>
              </a:rPr>
              <a:t>Open Explorer</a:t>
            </a:r>
          </a:p>
        </p:txBody>
      </p:sp>
      <p:sp>
        <p:nvSpPr>
          <p:cNvPr id="21" name="">
            <a:extLst xmlns:a="http://schemas.openxmlformats.org/drawingml/2006/main">
              <a:ext uri="{FF2B5EF4-FFF2-40B4-BE49-F238E27FC236}">
                <a16:creationId xmlns:a16="http://schemas.microsoft.com/office/drawing/2014/main" id="{24BC3AC4-3CDF-4C9D-B68B-BC569A670BC8}"/>
              </a:ext>
            </a:extLst>
          </p:cNvPr>
          <p:cNvSpPr>
            <a:spLocks xmlns:a="http://schemas.openxmlformats.org/drawingml/2006/main" noGrp="1"/>
          </p:cNvSpPr>
          <p:nvPr/>
        </p:nvSpPr>
        <p:spPr>
          <a:xfrm xmlns:a="http://schemas.openxmlformats.org/drawingml/2006/main">
            <a:off x="1657350" y="5419725"/>
            <a:ext cx="4857750" cy="4381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Show Sui events, commitments, and the transfer row. Explain that events support scanning, not public balances.</a:t>
            </a:r>
          </a:p>
        </p:txBody>
      </p:sp>
      <p:sp>
        <p:nvSpPr>
          <p:cNvPr id="22" name="">
            <a:extLst xmlns:a="http://schemas.openxmlformats.org/drawingml/2006/main">
              <a:ext uri="{FF2B5EF4-FFF2-40B4-BE49-F238E27FC236}">
                <a16:creationId xmlns:a16="http://schemas.microsoft.com/office/drawing/2014/main" id="{CD804E3F-42E1-4FCE-9584-1EE9CF6EA624}"/>
              </a:ext>
            </a:extLst>
          </p:cNvPr>
          <p:cNvSpPr>
            <a:spLocks xmlns:a="http://schemas.openxmlformats.org/drawingml/2006/main" noGrp="1"/>
          </p:cNvSpPr>
          <p:nvPr/>
        </p:nvSpPr>
        <p:spPr>
          <a:xfrm xmlns:a="http://schemas.openxmlformats.org/drawingml/2006/main">
            <a:off x="7239000" y="2781300"/>
            <a:ext cx="3657600" cy="21907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23" name="">
            <a:extLst xmlns:a="http://schemas.openxmlformats.org/drawingml/2006/main">
              <a:ext uri="{FF2B5EF4-FFF2-40B4-BE49-F238E27FC236}">
                <a16:creationId xmlns:a16="http://schemas.microsoft.com/office/drawing/2014/main" id="{4AA5F9C8-743E-4BA2-8D51-10714A766E9B}"/>
              </a:ext>
            </a:extLst>
          </p:cNvPr>
          <p:cNvSpPr>
            <a:spLocks xmlns:a="http://schemas.openxmlformats.org/drawingml/2006/main" noGrp="1"/>
          </p:cNvSpPr>
          <p:nvPr/>
        </p:nvSpPr>
        <p:spPr>
          <a:xfrm xmlns:a="http://schemas.openxmlformats.org/drawingml/2006/main">
            <a:off x="7543800" y="3067050"/>
            <a:ext cx="2952750" cy="2857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76200" tIns="57150" rIns="76200" bIns="57150"/>
          <a:lstStyle xmlns:a="http://schemas.openxmlformats.org/drawingml/2006/main"/>
          <a:p xmlns:a="http://schemas.openxmlformats.org/drawingml/2006/main">
            <a:pPr algn="l">
              <a:defRPr sz="1575" b="1">
                <a:solidFill>
                  <a:srgbClr val="F4FFF9"/>
                </a:solidFill>
                <a:latin typeface="Aptos"/>
                <a:ea typeface="Aptos"/>
                <a:cs typeface="Aptos"/>
              </a:defRPr>
            </a:pPr>
            <a:r>
              <a:rPr sz="1575" b="1">
                <a:solidFill>
                  <a:srgbClr val="F4FFF9"/>
                </a:solidFill>
                <a:latin typeface="Aptos"/>
                <a:ea typeface="Aptos"/>
                <a:cs typeface="Aptos"/>
              </a:rPr>
              <a:t>Say while clicking</a:t>
            </a:r>
          </a:p>
        </p:txBody>
      </p:sp>
      <p:sp>
        <p:nvSpPr>
          <p:cNvPr id="24" name="">
            <a:extLst xmlns:a="http://schemas.openxmlformats.org/drawingml/2006/main">
              <a:ext uri="{FF2B5EF4-FFF2-40B4-BE49-F238E27FC236}">
                <a16:creationId xmlns:a16="http://schemas.microsoft.com/office/drawing/2014/main" id="{DD875EE8-2BE9-4056-963C-C3775CE1F457}"/>
              </a:ext>
            </a:extLst>
          </p:cNvPr>
          <p:cNvSpPr>
            <a:spLocks xmlns:a="http://schemas.openxmlformats.org/drawingml/2006/main" noGrp="1"/>
          </p:cNvSpPr>
          <p:nvPr/>
        </p:nvSpPr>
        <p:spPr>
          <a:xfrm xmlns:a="http://schemas.openxmlformats.org/drawingml/2006/main">
            <a:off x="7543800" y="3524250"/>
            <a:ext cx="2857500" cy="12192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76200" tIns="57150" rIns="76200" bIns="57150"/>
          <a:lstStyle xmlns:a="http://schemas.openxmlformats.org/drawingml/2006/main"/>
          <a:p xmlns:a="http://schemas.openxmlformats.org/drawingml/2006/main">
            <a:pPr algn="l">
              <a:defRPr sz="1275" b="0">
                <a:solidFill>
                  <a:srgbClr val="A7BDB3"/>
                </a:solidFill>
                <a:latin typeface="Aptos"/>
                <a:ea typeface="Aptos"/>
                <a:cs typeface="Aptos"/>
              </a:defRPr>
            </a:pPr>
            <a:r>
              <a:rPr sz="1275" b="0">
                <a:solidFill>
                  <a:srgbClr val="A7BDB3"/>
                </a:solidFill>
                <a:latin typeface="Aptos"/>
                <a:ea typeface="Aptos"/>
                <a:cs typeface="Aptos"/>
              </a:rPr>
              <a:t>This is a Bitcoin-backed note flow. The faucet simulates the BTC deposit on regtest; Sui records commitments and events; private sends consume nullifiers and create new commitments.</a:t>
            </a:r>
          </a:p>
        </p:txBody>
      </p:sp>
      <p:sp>
        <p:nvSpPr>
          <p:cNvPr id="25" name="">
            <a:extLst xmlns:a="http://schemas.openxmlformats.org/drawingml/2006/main">
              <a:ext uri="{FF2B5EF4-FFF2-40B4-BE49-F238E27FC236}">
                <a16:creationId xmlns:a16="http://schemas.microsoft.com/office/drawing/2014/main" id="{DEFA0DDE-DF43-436F-B9E0-83E49369F981}"/>
              </a:ext>
            </a:extLst>
          </p:cNvPr>
          <p:cNvSpPr>
            <a:spLocks xmlns:a="http://schemas.openxmlformats.org/drawingml/2006/main" noGrp="1"/>
          </p:cNvSpPr>
          <p:nvPr/>
        </p:nvSpPr>
        <p:spPr>
          <a:xfrm xmlns:a="http://schemas.openxmlformats.org/drawingml/2006/main">
            <a:off x="7543800" y="5257800"/>
            <a:ext cx="2990850" cy="3429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125" b="1">
                <a:solidFill>
                  <a:srgbClr val="FFB45C"/>
                </a:solidFill>
                <a:latin typeface="Aptos"/>
                <a:ea typeface="Aptos"/>
                <a:cs typeface="Aptos"/>
              </a:defRPr>
            </a:pPr>
            <a:r>
              <a:rPr sz="1125" b="1">
                <a:solidFill>
                  <a:srgbClr val="FFB45C"/>
                </a:solidFill>
                <a:latin typeface="Aptos"/>
                <a:ea typeface="Aptos"/>
                <a:cs typeface="Aptos"/>
              </a:rPr>
              <a:t>Fallback: show existing stats instead of rerunning faucet.</a:t>
            </a:r>
          </a:p>
        </p:txBody>
      </p:sp>
      <p:sp>
        <p:nvSpPr>
          <p:cNvPr id="26" name="">
            <a:extLst xmlns:a="http://schemas.openxmlformats.org/drawingml/2006/main">
              <a:ext uri="{FF2B5EF4-FFF2-40B4-BE49-F238E27FC236}">
                <a16:creationId xmlns:a16="http://schemas.microsoft.com/office/drawing/2014/main" id="{F999D77A-69BC-40EA-B8AB-4EC01AD190CD}"/>
              </a:ext>
            </a:extLst>
          </p:cNvPr>
          <p:cNvSpPr>
            <a:spLocks xmlns:a="http://schemas.openxmlformats.org/drawingml/2006/main" noGrp="1"/>
          </p:cNvSpPr>
          <p:nvPr/>
        </p:nvSpPr>
        <p:spPr>
          <a:xfrm xmlns:a="http://schemas.openxmlformats.org/drawingml/2006/main">
            <a:off x="514350" y="6438900"/>
            <a:ext cx="4000500" cy="2286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825" b="0">
                <a:solidFill>
                  <a:srgbClr val="557166"/>
                </a:solidFill>
                <a:latin typeface="Aptos"/>
                <a:ea typeface="Aptos"/>
                <a:cs typeface="Aptos"/>
              </a:defRPr>
            </a:pPr>
            <a:r>
              <a:rPr sz="825" b="0">
                <a:solidFill>
                  <a:srgbClr val="557166"/>
                </a:solidFill>
                <a:latin typeface="Aptos"/>
                <a:ea typeface="Aptos"/>
                <a:cs typeface="Aptos"/>
              </a:rPr>
              <a:t>UTXOpia showcase | 5 minutes</a:t>
            </a:r>
          </a:p>
        </p:txBody>
      </p:sp>
    </p:spTree>
    <p:extLst>
      <p:ext uri="{BB962C8B-B14F-4D97-AF65-F5344CB8AC3E}">
        <p14:creationId xmlns:p14="http://schemas.microsoft.com/office/powerpoint/2010/main" val="568879688"/>
      </p:ext>
    </p:extLst>
  </p:cSld>
</p:sld>
</file>

<file path=ppt/slides/slide5.xml><?xml version="1.0" encoding="utf-8"?>
<p:sld xmlns:p="http://schemas.openxmlformats.org/presentationml/2006/main">
  <p:cSld>
    <p:bg>
      <p:bgPr>
        <a:solidFill xmlns:a="http://schemas.openxmlformats.org/drawingml/2006/main">
          <a:srgbClr val="06100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3EACC7-96CD-4B90-BEDF-F70AF59EF9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sp>
      <p:sp>
        <p:nvSpPr>
          <p:cNvPr id="2" name="">
            <a:extLst xmlns:a="http://schemas.openxmlformats.org/drawingml/2006/main">
              <a:ext uri="{FF2B5EF4-FFF2-40B4-BE49-F238E27FC236}">
                <a16:creationId xmlns:a16="http://schemas.microsoft.com/office/drawing/2014/main" id="{5500EB6A-D989-4F05-BEC1-C2AB7FF1AE16}"/>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3" name="">
            <a:extLst xmlns:a="http://schemas.openxmlformats.org/drawingml/2006/main">
              <a:ext uri="{FF2B5EF4-FFF2-40B4-BE49-F238E27FC236}">
                <a16:creationId xmlns:a16="http://schemas.microsoft.com/office/drawing/2014/main" id="{DA62A617-37C4-421C-AA89-1D7F733885C4}"/>
              </a:ext>
            </a:extLst>
          </p:cNvPr>
          <p:cNvSpPr>
            <a:spLocks xmlns:a="http://schemas.openxmlformats.org/drawingml/2006/main" noGrp="1"/>
          </p:cNvSpPr>
          <p:nvPr/>
        </p:nvSpPr>
        <p:spPr>
          <a:xfrm xmlns:a="http://schemas.openxmlformats.org/drawingml/2006/main">
            <a:off x="514350" y="323850"/>
            <a:ext cx="3429000" cy="285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38100" rIns="0" bIns="38100"/>
          <a:lstStyle xmlns:a="http://schemas.openxmlformats.org/drawingml/2006/main"/>
          <a:p xmlns:a="http://schemas.openxmlformats.org/drawingml/2006/main">
            <a:pPr algn="l">
              <a:defRPr sz="1050" b="1">
                <a:solidFill>
                  <a:srgbClr val="2EE59D"/>
                </a:solidFill>
                <a:latin typeface="Aptos"/>
                <a:ea typeface="Aptos"/>
                <a:cs typeface="Aptos"/>
              </a:defRPr>
            </a:pPr>
            <a:r>
              <a:rPr sz="1050" b="1">
                <a:solidFill>
                  <a:srgbClr val="2EE59D"/>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318D72B1-9D92-456D-965A-AB49D374E0F7}"/>
              </a:ext>
            </a:extLst>
          </p:cNvPr>
          <p:cNvSpPr>
            <a:spLocks xmlns:a="http://schemas.openxmlformats.org/drawingml/2006/main" noGrp="1"/>
          </p:cNvSpPr>
          <p:nvPr/>
        </p:nvSpPr>
        <p:spPr>
          <a:xfrm xmlns:a="http://schemas.openxmlformats.org/drawingml/2006/main">
            <a:off x="514350" y="781050"/>
            <a:ext cx="6667500" cy="9144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3225" b="1">
                <a:solidFill>
                  <a:srgbClr val="F4FFF9"/>
                </a:solidFill>
                <a:latin typeface="Aptos Display"/>
                <a:ea typeface="Aptos Display"/>
                <a:cs typeface="Aptos Display"/>
              </a:defRPr>
            </a:pPr>
            <a:r>
              <a:rPr sz="3225" b="1">
                <a:solidFill>
                  <a:srgbClr val="F4FFF9"/>
                </a:solidFill>
                <a:latin typeface="Aptos Display"/>
                <a:ea typeface="Aptos Display"/>
                <a:cs typeface="Aptos Display"/>
              </a:rPr>
              <a:t>What is real today</a:t>
            </a:r>
          </a:p>
        </p:txBody>
      </p:sp>
      <p:sp>
        <p:nvSpPr>
          <p:cNvPr id="5" name="">
            <a:extLst xmlns:a="http://schemas.openxmlformats.org/drawingml/2006/main">
              <a:ext uri="{FF2B5EF4-FFF2-40B4-BE49-F238E27FC236}">
                <a16:creationId xmlns:a16="http://schemas.microsoft.com/office/drawing/2014/main" id="{14CCB60A-CB84-46BB-B58B-D4F9C256E12D}"/>
              </a:ext>
            </a:extLst>
          </p:cNvPr>
          <p:cNvSpPr>
            <a:spLocks xmlns:a="http://schemas.openxmlformats.org/drawingml/2006/main" noGrp="1"/>
          </p:cNvSpPr>
          <p:nvPr/>
        </p:nvSpPr>
        <p:spPr>
          <a:xfrm xmlns:a="http://schemas.openxmlformats.org/drawingml/2006/main">
            <a:off x="533400" y="1733550"/>
            <a:ext cx="6762750" cy="8191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1575" b="0">
                <a:solidFill>
                  <a:srgbClr val="A7BDB3"/>
                </a:solidFill>
                <a:latin typeface="Aptos"/>
                <a:ea typeface="Aptos"/>
                <a:cs typeface="Aptos"/>
              </a:defRPr>
            </a:pPr>
            <a:r>
              <a:rPr sz="1575" b="0">
                <a:solidFill>
                  <a:srgbClr val="A7BDB3"/>
                </a:solidFill>
                <a:latin typeface="Aptos"/>
                <a:ea typeface="Aptos"/>
                <a:cs typeface="Aptos"/>
              </a:rPr>
              <a:t>The showcase is small on purpose: prove the privacy primitive, prove it runs in the product surface, and prove Sui is integrated without overclaiming custody.</a:t>
            </a:r>
          </a:p>
        </p:txBody>
      </p:sp>
      <p:sp>
        <p:nvSpPr>
          <p:cNvPr id="6" name="">
            <a:extLst xmlns:a="http://schemas.openxmlformats.org/drawingml/2006/main">
              <a:ext uri="{FF2B5EF4-FFF2-40B4-BE49-F238E27FC236}">
                <a16:creationId xmlns:a16="http://schemas.microsoft.com/office/drawing/2014/main" id="{D782ED6E-F542-46EA-B5B6-775B173F456D}"/>
              </a:ext>
            </a:extLst>
          </p:cNvPr>
          <p:cNvSpPr>
            <a:spLocks xmlns:a="http://schemas.openxmlformats.org/drawingml/2006/main" noGrp="1"/>
          </p:cNvSpPr>
          <p:nvPr/>
        </p:nvSpPr>
        <p:spPr>
          <a:xfrm xmlns:a="http://schemas.openxmlformats.org/drawingml/2006/main">
            <a:off x="895350" y="2857500"/>
            <a:ext cx="1619250" cy="5143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txBody>
          <a:bodyPr xmlns:a="http://schemas.openxmlformats.org/drawingml/2006/main" lIns="76200" tIns="76200" rIns="76200" bIns="19050"/>
          <a:lstStyle xmlns:a="http://schemas.openxmlformats.org/drawingml/2006/main"/>
          <a:p xmlns:a="http://schemas.openxmlformats.org/drawingml/2006/main">
            <a:pPr algn="ctr">
              <a:defRPr sz="2550" b="1">
                <a:solidFill>
                  <a:srgbClr val="6BC7FF"/>
                </a:solidFill>
                <a:latin typeface="Aptos"/>
                <a:ea typeface="Aptos"/>
                <a:cs typeface="Aptos"/>
              </a:defRPr>
            </a:pPr>
            <a:r>
              <a:rPr sz="2550" b="1">
                <a:solidFill>
                  <a:srgbClr val="6BC7FF"/>
                </a:solidFill>
                <a:latin typeface="Aptos"/>
                <a:ea typeface="Aptos"/>
                <a:cs typeface="Aptos"/>
              </a:rPr>
              <a:t>34</a:t>
            </a:r>
          </a:p>
        </p:txBody>
      </p:sp>
      <p:sp>
        <p:nvSpPr>
          <p:cNvPr id="7" name="">
            <a:extLst xmlns:a="http://schemas.openxmlformats.org/drawingml/2006/main">
              <a:ext uri="{FF2B5EF4-FFF2-40B4-BE49-F238E27FC236}">
                <a16:creationId xmlns:a16="http://schemas.microsoft.com/office/drawing/2014/main" id="{50879F04-41B2-4BDD-987A-BDC7E0E533BF}"/>
              </a:ext>
            </a:extLst>
          </p:cNvPr>
          <p:cNvSpPr>
            <a:spLocks xmlns:a="http://schemas.openxmlformats.org/drawingml/2006/main" noGrp="1"/>
          </p:cNvSpPr>
          <p:nvPr/>
        </p:nvSpPr>
        <p:spPr>
          <a:xfrm xmlns:a="http://schemas.openxmlformats.org/drawingml/2006/main">
            <a:off x="895350" y="3371850"/>
            <a:ext cx="1619250" cy="4000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txBody>
          <a:bodyPr xmlns:a="http://schemas.openxmlformats.org/drawingml/2006/main" lIns="76200" tIns="47625" rIns="76200" bIns="76200"/>
          <a:lstStyle xmlns:a="http://schemas.openxmlformats.org/drawingml/2006/main"/>
          <a:p xmlns:a="http://schemas.openxmlformats.org/drawingml/2006/main">
            <a:pPr algn="ctr">
              <a:defRPr sz="1050" b="0">
                <a:solidFill>
                  <a:srgbClr val="A7BDB3"/>
                </a:solidFill>
                <a:latin typeface="Aptos"/>
                <a:ea typeface="Aptos"/>
                <a:cs typeface="Aptos"/>
              </a:defRPr>
            </a:pPr>
            <a:r>
              <a:rPr sz="1050" b="0">
                <a:solidFill>
                  <a:srgbClr val="A7BDB3"/>
                </a:solidFill>
                <a:latin typeface="Aptos"/>
                <a:ea typeface="Aptos"/>
                <a:cs typeface="Aptos"/>
              </a:rPr>
              <a:t>Sui events seen</a:t>
            </a:r>
          </a:p>
        </p:txBody>
      </p:sp>
      <p:sp>
        <p:nvSpPr>
          <p:cNvPr id="8" name="">
            <a:extLst xmlns:a="http://schemas.openxmlformats.org/drawingml/2006/main">
              <a:ext uri="{FF2B5EF4-FFF2-40B4-BE49-F238E27FC236}">
                <a16:creationId xmlns:a16="http://schemas.microsoft.com/office/drawing/2014/main" id="{DC894A26-F808-4C8B-9E34-AFA43D0B1A06}"/>
              </a:ext>
            </a:extLst>
          </p:cNvPr>
          <p:cNvSpPr>
            <a:spLocks xmlns:a="http://schemas.openxmlformats.org/drawingml/2006/main" noGrp="1"/>
          </p:cNvSpPr>
          <p:nvPr/>
        </p:nvSpPr>
        <p:spPr>
          <a:xfrm xmlns:a="http://schemas.openxmlformats.org/drawingml/2006/main">
            <a:off x="2838450" y="2857500"/>
            <a:ext cx="1619250" cy="5143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txBody>
          <a:bodyPr xmlns:a="http://schemas.openxmlformats.org/drawingml/2006/main" lIns="76200" tIns="76200" rIns="76200" bIns="19050"/>
          <a:lstStyle xmlns:a="http://schemas.openxmlformats.org/drawingml/2006/main"/>
          <a:p xmlns:a="http://schemas.openxmlformats.org/drawingml/2006/main">
            <a:pPr algn="ctr">
              <a:defRPr sz="2550" b="1">
                <a:solidFill>
                  <a:srgbClr val="2EE59D"/>
                </a:solidFill>
                <a:latin typeface="Aptos"/>
                <a:ea typeface="Aptos"/>
                <a:cs typeface="Aptos"/>
              </a:defRPr>
            </a:pPr>
            <a:r>
              <a:rPr sz="2550" b="1">
                <a:solidFill>
                  <a:srgbClr val="2EE59D"/>
                </a:solidFill>
                <a:latin typeface="Aptos"/>
                <a:ea typeface="Aptos"/>
                <a:cs typeface="Aptos"/>
              </a:rPr>
              <a:t>7</a:t>
            </a:r>
          </a:p>
        </p:txBody>
      </p:sp>
      <p:sp>
        <p:nvSpPr>
          <p:cNvPr id="9" name="">
            <a:extLst xmlns:a="http://schemas.openxmlformats.org/drawingml/2006/main">
              <a:ext uri="{FF2B5EF4-FFF2-40B4-BE49-F238E27FC236}">
                <a16:creationId xmlns:a16="http://schemas.microsoft.com/office/drawing/2014/main" id="{B39C5FC4-972F-498B-8EEA-A0D0C0C70F28}"/>
              </a:ext>
            </a:extLst>
          </p:cNvPr>
          <p:cNvSpPr>
            <a:spLocks xmlns:a="http://schemas.openxmlformats.org/drawingml/2006/main" noGrp="1"/>
          </p:cNvSpPr>
          <p:nvPr/>
        </p:nvSpPr>
        <p:spPr>
          <a:xfrm xmlns:a="http://schemas.openxmlformats.org/drawingml/2006/main">
            <a:off x="2838450" y="3371850"/>
            <a:ext cx="1619250" cy="4000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txBody>
          <a:bodyPr xmlns:a="http://schemas.openxmlformats.org/drawingml/2006/main" lIns="76200" tIns="47625" rIns="76200" bIns="76200"/>
          <a:lstStyle xmlns:a="http://schemas.openxmlformats.org/drawingml/2006/main"/>
          <a:p xmlns:a="http://schemas.openxmlformats.org/drawingml/2006/main">
            <a:pPr algn="ctr">
              <a:defRPr sz="1050" b="0">
                <a:solidFill>
                  <a:srgbClr val="A7BDB3"/>
                </a:solidFill>
                <a:latin typeface="Aptos"/>
                <a:ea typeface="Aptos"/>
                <a:cs typeface="Aptos"/>
              </a:defRPr>
            </a:pPr>
            <a:r>
              <a:rPr sz="1050" b="0">
                <a:solidFill>
                  <a:srgbClr val="A7BDB3"/>
                </a:solidFill>
                <a:latin typeface="Aptos"/>
                <a:ea typeface="Aptos"/>
                <a:cs typeface="Aptos"/>
              </a:rPr>
              <a:t>Commitments derived</a:t>
            </a:r>
          </a:p>
        </p:txBody>
      </p:sp>
      <p:sp>
        <p:nvSpPr>
          <p:cNvPr id="10" name="">
            <a:extLst xmlns:a="http://schemas.openxmlformats.org/drawingml/2006/main">
              <a:ext uri="{FF2B5EF4-FFF2-40B4-BE49-F238E27FC236}">
                <a16:creationId xmlns:a16="http://schemas.microsoft.com/office/drawing/2014/main" id="{B7DBD5FD-E5FC-47F6-8D6D-72AFAC8355B6}"/>
              </a:ext>
            </a:extLst>
          </p:cNvPr>
          <p:cNvSpPr>
            <a:spLocks xmlns:a="http://schemas.openxmlformats.org/drawingml/2006/main" noGrp="1"/>
          </p:cNvSpPr>
          <p:nvPr/>
        </p:nvSpPr>
        <p:spPr>
          <a:xfrm xmlns:a="http://schemas.openxmlformats.org/drawingml/2006/main">
            <a:off x="4781550" y="2857500"/>
            <a:ext cx="1619250" cy="5143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txBody>
          <a:bodyPr xmlns:a="http://schemas.openxmlformats.org/drawingml/2006/main" lIns="76200" tIns="76200" rIns="76200" bIns="19050"/>
          <a:lstStyle xmlns:a="http://schemas.openxmlformats.org/drawingml/2006/main"/>
          <a:p xmlns:a="http://schemas.openxmlformats.org/drawingml/2006/main">
            <a:pPr algn="ctr">
              <a:defRPr sz="2550" b="1">
                <a:solidFill>
                  <a:srgbClr val="FFB45C"/>
                </a:solidFill>
                <a:latin typeface="Aptos"/>
                <a:ea typeface="Aptos"/>
                <a:cs typeface="Aptos"/>
              </a:defRPr>
            </a:pPr>
            <a:r>
              <a:rPr sz="2550" b="1">
                <a:solidFill>
                  <a:srgbClr val="FFB45C"/>
                </a:solidFill>
                <a:latin typeface="Aptos"/>
                <a:ea typeface="Aptos"/>
                <a:cs typeface="Aptos"/>
              </a:rPr>
              <a:t>4</a:t>
            </a:r>
          </a:p>
        </p:txBody>
      </p:sp>
      <p:sp>
        <p:nvSpPr>
          <p:cNvPr id="11" name="">
            <a:extLst xmlns:a="http://schemas.openxmlformats.org/drawingml/2006/main">
              <a:ext uri="{FF2B5EF4-FFF2-40B4-BE49-F238E27FC236}">
                <a16:creationId xmlns:a16="http://schemas.microsoft.com/office/drawing/2014/main" id="{911143FB-5B40-4BF0-9B6E-D4B7C8F44593}"/>
              </a:ext>
            </a:extLst>
          </p:cNvPr>
          <p:cNvSpPr>
            <a:spLocks xmlns:a="http://schemas.openxmlformats.org/drawingml/2006/main" noGrp="1"/>
          </p:cNvSpPr>
          <p:nvPr/>
        </p:nvSpPr>
        <p:spPr>
          <a:xfrm xmlns:a="http://schemas.openxmlformats.org/drawingml/2006/main">
            <a:off x="4781550" y="3371850"/>
            <a:ext cx="1619250" cy="40005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txBody>
          <a:bodyPr xmlns:a="http://schemas.openxmlformats.org/drawingml/2006/main" lIns="76200" tIns="47625" rIns="76200" bIns="76200"/>
          <a:lstStyle xmlns:a="http://schemas.openxmlformats.org/drawingml/2006/main"/>
          <a:p xmlns:a="http://schemas.openxmlformats.org/drawingml/2006/main">
            <a:pPr algn="ctr">
              <a:defRPr sz="1050" b="0">
                <a:solidFill>
                  <a:srgbClr val="A7BDB3"/>
                </a:solidFill>
                <a:latin typeface="Aptos"/>
                <a:ea typeface="Aptos"/>
                <a:cs typeface="Aptos"/>
              </a:defRPr>
            </a:pPr>
            <a:r>
              <a:rPr sz="1050" b="0">
                <a:solidFill>
                  <a:srgbClr val="A7BDB3"/>
                </a:solidFill>
                <a:latin typeface="Aptos"/>
                <a:ea typeface="Aptos"/>
                <a:cs typeface="Aptos"/>
              </a:rPr>
              <a:t>BTC deposit events</a:t>
            </a:r>
          </a:p>
        </p:txBody>
      </p:sp>
      <p:sp>
        <p:nvSpPr>
          <p:cNvPr id="12" name="">
            <a:extLst xmlns:a="http://schemas.openxmlformats.org/drawingml/2006/main">
              <a:ext uri="{FF2B5EF4-FFF2-40B4-BE49-F238E27FC236}">
                <a16:creationId xmlns:a16="http://schemas.microsoft.com/office/drawing/2014/main" id="{A9D3D955-E38F-4ED2-8B7A-532D29102DC3}"/>
              </a:ext>
            </a:extLst>
          </p:cNvPr>
          <p:cNvSpPr>
            <a:spLocks xmlns:a="http://schemas.openxmlformats.org/drawingml/2006/main" noGrp="1"/>
          </p:cNvSpPr>
          <p:nvPr/>
        </p:nvSpPr>
        <p:spPr>
          <a:xfrm xmlns:a="http://schemas.openxmlformats.org/drawingml/2006/main">
            <a:off x="7010400" y="2647950"/>
            <a:ext cx="3905250" cy="125730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3" name="">
            <a:extLst xmlns:a="http://schemas.openxmlformats.org/drawingml/2006/main">
              <a:ext uri="{FF2B5EF4-FFF2-40B4-BE49-F238E27FC236}">
                <a16:creationId xmlns:a16="http://schemas.microsoft.com/office/drawing/2014/main" id="{16D6FDD5-75BC-4BF1-A71D-B7A6DFB2F238}"/>
              </a:ext>
            </a:extLst>
          </p:cNvPr>
          <p:cNvSpPr>
            <a:spLocks xmlns:a="http://schemas.openxmlformats.org/drawingml/2006/main" noGrp="1"/>
          </p:cNvSpPr>
          <p:nvPr/>
        </p:nvSpPr>
        <p:spPr>
          <a:xfrm xmlns:a="http://schemas.openxmlformats.org/drawingml/2006/main">
            <a:off x="7010400" y="2647950"/>
            <a:ext cx="57150" cy="1257300"/>
          </a:xfrm>
          <a:prstGeom xmlns:a="http://schemas.openxmlformats.org/drawingml/2006/main" prst="rect">
            <a:avLst/>
          </a:prstGeom>
          <a:solidFill xmlns:a="http://schemas.openxmlformats.org/drawingml/2006/main">
            <a:srgbClr val="2EE59D"/>
          </a:solidFill>
          <a:ln xmlns:a="http://schemas.openxmlformats.org/drawingml/2006/main" w="0">
            <a:solidFill>
              <a:srgbClr val="2EE59D"/>
            </a:solidFill>
          </a:ln>
        </p:spPr>
      </p:sp>
      <p:sp>
        <p:nvSpPr>
          <p:cNvPr id="14" name="">
            <a:extLst xmlns:a="http://schemas.openxmlformats.org/drawingml/2006/main">
              <a:ext uri="{FF2B5EF4-FFF2-40B4-BE49-F238E27FC236}">
                <a16:creationId xmlns:a16="http://schemas.microsoft.com/office/drawing/2014/main" id="{6CA73771-8F7D-48DB-99AE-52E3FD2BB132}"/>
              </a:ext>
            </a:extLst>
          </p:cNvPr>
          <p:cNvSpPr>
            <a:spLocks xmlns:a="http://schemas.openxmlformats.org/drawingml/2006/main" noGrp="1"/>
          </p:cNvSpPr>
          <p:nvPr/>
        </p:nvSpPr>
        <p:spPr>
          <a:xfrm xmlns:a="http://schemas.openxmlformats.org/drawingml/2006/main">
            <a:off x="7219950" y="2819400"/>
            <a:ext cx="354330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Built pieces</a:t>
            </a:r>
          </a:p>
        </p:txBody>
      </p:sp>
      <p:sp>
        <p:nvSpPr>
          <p:cNvPr id="15" name="">
            <a:extLst xmlns:a="http://schemas.openxmlformats.org/drawingml/2006/main">
              <a:ext uri="{FF2B5EF4-FFF2-40B4-BE49-F238E27FC236}">
                <a16:creationId xmlns:a16="http://schemas.microsoft.com/office/drawing/2014/main" id="{DFE8E86C-E7B2-440D-8F4A-C2AC049BF42B}"/>
              </a:ext>
            </a:extLst>
          </p:cNvPr>
          <p:cNvSpPr>
            <a:spLocks xmlns:a="http://schemas.openxmlformats.org/drawingml/2006/main" noGrp="1"/>
          </p:cNvSpPr>
          <p:nvPr/>
        </p:nvSpPr>
        <p:spPr>
          <a:xfrm xmlns:a="http://schemas.openxmlformats.org/drawingml/2006/main">
            <a:off x="7219950" y="3200400"/>
            <a:ext cx="3543300" cy="5905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JoinSplit circuits, TypeScript SDK, web wallet, regtest BTC faucet, Sui Move package, event scanner, Solana Pinocchio program.</a:t>
            </a:r>
          </a:p>
        </p:txBody>
      </p:sp>
      <p:sp>
        <p:nvSpPr>
          <p:cNvPr id="16" name="">
            <a:extLst xmlns:a="http://schemas.openxmlformats.org/drawingml/2006/main">
              <a:ext uri="{FF2B5EF4-FFF2-40B4-BE49-F238E27FC236}">
                <a16:creationId xmlns:a16="http://schemas.microsoft.com/office/drawing/2014/main" id="{D37C0083-977B-4831-AE1D-A0DF5F7A6A99}"/>
              </a:ext>
            </a:extLst>
          </p:cNvPr>
          <p:cNvSpPr>
            <a:spLocks xmlns:a="http://schemas.openxmlformats.org/drawingml/2006/main" noGrp="1"/>
          </p:cNvSpPr>
          <p:nvPr/>
        </p:nvSpPr>
        <p:spPr>
          <a:xfrm xmlns:a="http://schemas.openxmlformats.org/drawingml/2006/main">
            <a:off x="7010400" y="4171950"/>
            <a:ext cx="3905250" cy="1257300"/>
          </a:xfrm>
          <a:prstGeom xmlns:a="http://schemas.openxmlformats.org/drawingml/2006/main" prst="rect">
            <a:avLst/>
          </a:prstGeom>
          <a:solidFill xmlns:a="http://schemas.openxmlformats.org/drawingml/2006/main">
            <a:srgbClr val="0E211B"/>
          </a:solidFill>
          <a:ln xmlns:a="http://schemas.openxmlformats.org/drawingml/2006/main" w="9525">
            <a:solidFill>
              <a:srgbClr val="24483B"/>
            </a:solidFill>
          </a:ln>
        </p:spPr>
      </p:sp>
      <p:sp>
        <p:nvSpPr>
          <p:cNvPr id="17" name="">
            <a:extLst xmlns:a="http://schemas.openxmlformats.org/drawingml/2006/main">
              <a:ext uri="{FF2B5EF4-FFF2-40B4-BE49-F238E27FC236}">
                <a16:creationId xmlns:a16="http://schemas.microsoft.com/office/drawing/2014/main" id="{04207E93-E10A-4D2E-B168-F405248A17BC}"/>
              </a:ext>
            </a:extLst>
          </p:cNvPr>
          <p:cNvSpPr>
            <a:spLocks xmlns:a="http://schemas.openxmlformats.org/drawingml/2006/main" noGrp="1"/>
          </p:cNvSpPr>
          <p:nvPr/>
        </p:nvSpPr>
        <p:spPr>
          <a:xfrm xmlns:a="http://schemas.openxmlformats.org/drawingml/2006/main">
            <a:off x="7010400" y="4171950"/>
            <a:ext cx="57150" cy="1257300"/>
          </a:xfrm>
          <a:prstGeom xmlns:a="http://schemas.openxmlformats.org/drawingml/2006/main" prst="rect">
            <a:avLst/>
          </a:prstGeom>
          <a:solidFill xmlns:a="http://schemas.openxmlformats.org/drawingml/2006/main">
            <a:srgbClr val="6BC7FF"/>
          </a:solidFill>
          <a:ln xmlns:a="http://schemas.openxmlformats.org/drawingml/2006/main" w="0">
            <a:solidFill>
              <a:srgbClr val="6BC7FF"/>
            </a:solidFill>
          </a:ln>
        </p:spPr>
      </p:sp>
      <p:sp>
        <p:nvSpPr>
          <p:cNvPr id="18" name="">
            <a:extLst xmlns:a="http://schemas.openxmlformats.org/drawingml/2006/main">
              <a:ext uri="{FF2B5EF4-FFF2-40B4-BE49-F238E27FC236}">
                <a16:creationId xmlns:a16="http://schemas.microsoft.com/office/drawing/2014/main" id="{5DD2678B-284A-4A1B-9CFD-8B7AAE05AF14}"/>
              </a:ext>
            </a:extLst>
          </p:cNvPr>
          <p:cNvSpPr>
            <a:spLocks xmlns:a="http://schemas.openxmlformats.org/drawingml/2006/main" noGrp="1"/>
          </p:cNvSpPr>
          <p:nvPr/>
        </p:nvSpPr>
        <p:spPr>
          <a:xfrm xmlns:a="http://schemas.openxmlformats.org/drawingml/2006/main">
            <a:off x="7219950" y="4343400"/>
            <a:ext cx="3543300" cy="30480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350" b="1">
                <a:solidFill>
                  <a:srgbClr val="F4FFF9"/>
                </a:solidFill>
                <a:latin typeface="Aptos"/>
                <a:ea typeface="Aptos"/>
                <a:cs typeface="Aptos"/>
              </a:defRPr>
            </a:pPr>
            <a:r>
              <a:rPr sz="1350" b="1">
                <a:solidFill>
                  <a:srgbClr val="F4FFF9"/>
                </a:solidFill>
                <a:latin typeface="Aptos"/>
                <a:ea typeface="Aptos"/>
                <a:cs typeface="Aptos"/>
              </a:rPr>
              <a:t>Next proof points</a:t>
            </a:r>
          </a:p>
        </p:txBody>
      </p:sp>
      <p:sp>
        <p:nvSpPr>
          <p:cNvPr id="19" name="">
            <a:extLst xmlns:a="http://schemas.openxmlformats.org/drawingml/2006/main">
              <a:ext uri="{FF2B5EF4-FFF2-40B4-BE49-F238E27FC236}">
                <a16:creationId xmlns:a16="http://schemas.microsoft.com/office/drawing/2014/main" id="{B79EC633-1EB8-4332-8700-79099BE47828}"/>
              </a:ext>
            </a:extLst>
          </p:cNvPr>
          <p:cNvSpPr>
            <a:spLocks xmlns:a="http://schemas.openxmlformats.org/drawingml/2006/main" noGrp="1"/>
          </p:cNvSpPr>
          <p:nvPr/>
        </p:nvSpPr>
        <p:spPr>
          <a:xfrm xmlns:a="http://schemas.openxmlformats.org/drawingml/2006/main">
            <a:off x="7219950" y="4724400"/>
            <a:ext cx="3543300" cy="590550"/>
          </a:xfrm>
          <a:prstGeom xmlns:a="http://schemas.openxmlformats.org/drawingml/2006/main" prst="rect">
            <a:avLst/>
          </a:prstGeom>
          <a:solidFill xmlns:a="http://schemas.openxmlformats.org/drawingml/2006/main">
            <a:srgbClr val="0E211B"/>
          </a:solidFill>
          <a:ln xmlns:a="http://schemas.openxmlformats.org/drawingml/2006/main" w="0">
            <a:solidFill>
              <a:srgbClr val="0E211B"/>
            </a:solidFill>
          </a:ln>
        </p:spPr>
        <p:txBody>
          <a:bodyPr xmlns:a="http://schemas.openxmlformats.org/drawingml/2006/main" lIns="0" tIns="0" rIns="0" bIns="0"/>
          <a:lstStyle xmlns:a="http://schemas.openxmlformats.org/drawingml/2006/main"/>
          <a:p xmlns:a="http://schemas.openxmlformats.org/drawingml/2006/main">
            <a:pPr algn="l">
              <a:defRPr sz="1125" b="0">
                <a:solidFill>
                  <a:srgbClr val="A7BDB3"/>
                </a:solidFill>
                <a:latin typeface="Aptos"/>
                <a:ea typeface="Aptos"/>
                <a:cs typeface="Aptos"/>
              </a:defRPr>
            </a:pPr>
            <a:r>
              <a:rPr sz="1125" b="0">
                <a:solidFill>
                  <a:srgbClr val="A7BDB3"/>
                </a:solidFill>
                <a:latin typeface="Aptos"/>
                <a:ea typeface="Aptos"/>
                <a:cs typeface="Aptos"/>
              </a:rPr>
              <a:t>Production Sui signing design, broader N-to-M demo coverage, hardened relayer operations, and more explorer evidence.</a:t>
            </a:r>
          </a:p>
        </p:txBody>
      </p:sp>
      <p:sp>
        <p:nvSpPr>
          <p:cNvPr id="20" name="">
            <a:extLst xmlns:a="http://schemas.openxmlformats.org/drawingml/2006/main">
              <a:ext uri="{FF2B5EF4-FFF2-40B4-BE49-F238E27FC236}">
                <a16:creationId xmlns:a16="http://schemas.microsoft.com/office/drawing/2014/main" id="{70351DF0-88B8-43F3-AEC4-1BB54FD582C4}"/>
              </a:ext>
            </a:extLst>
          </p:cNvPr>
          <p:cNvSpPr>
            <a:spLocks xmlns:a="http://schemas.openxmlformats.org/drawingml/2006/main" noGrp="1"/>
          </p:cNvSpPr>
          <p:nvPr/>
        </p:nvSpPr>
        <p:spPr>
          <a:xfrm xmlns:a="http://schemas.openxmlformats.org/drawingml/2006/main">
            <a:off x="914400" y="5010150"/>
            <a:ext cx="5334000" cy="66675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76200" tIns="57150" rIns="76200" bIns="57150"/>
          <a:lstStyle xmlns:a="http://schemas.openxmlformats.org/drawingml/2006/main"/>
          <a:p xmlns:a="http://schemas.openxmlformats.org/drawingml/2006/main">
            <a:pPr algn="l">
              <a:defRPr sz="1500" b="1">
                <a:solidFill>
                  <a:srgbClr val="F4FFF9"/>
                </a:solidFill>
                <a:latin typeface="Aptos"/>
                <a:ea typeface="Aptos"/>
                <a:cs typeface="Aptos"/>
              </a:defRPr>
            </a:pPr>
            <a:r>
              <a:rPr sz="1500" b="1">
                <a:solidFill>
                  <a:srgbClr val="F4FFF9"/>
                </a:solidFill>
                <a:latin typeface="Aptos"/>
                <a:ea typeface="Aptos"/>
                <a:cs typeface="Aptos"/>
              </a:rPr>
              <a:t>Close line: UTXOpia makes Bitcoin usable across execution environments without turning every transfer into a public token trail.</a:t>
            </a:r>
          </a:p>
        </p:txBody>
      </p:sp>
      <p:sp>
        <p:nvSpPr>
          <p:cNvPr id="21" name="">
            <a:extLst xmlns:a="http://schemas.openxmlformats.org/drawingml/2006/main">
              <a:ext uri="{FF2B5EF4-FFF2-40B4-BE49-F238E27FC236}">
                <a16:creationId xmlns:a16="http://schemas.microsoft.com/office/drawing/2014/main" id="{3AC7F29D-D17F-44D4-AB2E-4E54DA642343}"/>
              </a:ext>
            </a:extLst>
          </p:cNvPr>
          <p:cNvSpPr>
            <a:spLocks xmlns:a="http://schemas.openxmlformats.org/drawingml/2006/main" noGrp="1"/>
          </p:cNvSpPr>
          <p:nvPr/>
        </p:nvSpPr>
        <p:spPr>
          <a:xfrm xmlns:a="http://schemas.openxmlformats.org/drawingml/2006/main">
            <a:off x="514350" y="6438900"/>
            <a:ext cx="4000500" cy="228600"/>
          </a:xfrm>
          <a:prstGeom xmlns:a="http://schemas.openxmlformats.org/drawingml/2006/main" prst="rect">
            <a:avLst/>
          </a:prstGeom>
          <a:solidFill xmlns:a="http://schemas.openxmlformats.org/drawingml/2006/main">
            <a:srgbClr val="06100D"/>
          </a:solidFill>
          <a:ln xmlns:a="http://schemas.openxmlformats.org/drawingml/2006/main" w="0">
            <a:solidFill>
              <a:srgbClr val="06100D"/>
            </a:solidFill>
          </a:ln>
        </p:spPr>
        <p:txBody>
          <a:bodyPr xmlns:a="http://schemas.openxmlformats.org/drawingml/2006/main" lIns="0" tIns="0" rIns="0" bIns="0"/>
          <a:lstStyle xmlns:a="http://schemas.openxmlformats.org/drawingml/2006/main"/>
          <a:p xmlns:a="http://schemas.openxmlformats.org/drawingml/2006/main">
            <a:pPr algn="l">
              <a:defRPr sz="825" b="0">
                <a:solidFill>
                  <a:srgbClr val="557166"/>
                </a:solidFill>
                <a:latin typeface="Aptos"/>
                <a:ea typeface="Aptos"/>
                <a:cs typeface="Aptos"/>
              </a:defRPr>
            </a:pPr>
            <a:r>
              <a:rPr sz="825" b="0">
                <a:solidFill>
                  <a:srgbClr val="557166"/>
                </a:solidFill>
                <a:latin typeface="Aptos"/>
                <a:ea typeface="Aptos"/>
                <a:cs typeface="Aptos"/>
              </a:rPr>
              <a:t>UTXOpia showcase | 5 minutes</a:t>
            </a:r>
          </a:p>
        </p:txBody>
      </p:sp>
    </p:spTree>
    <p:extLst>
      <p:ext uri="{BB962C8B-B14F-4D97-AF65-F5344CB8AC3E}">
        <p14:creationId xmlns:p14="http://schemas.microsoft.com/office/powerpoint/2010/main" val="1310039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2026-05-31T04:48:10.0640000Z</dcterms:created>
  <dcterms:modified xsi:type="dcterms:W3CDTF">2026-05-31T04:48:10.0640000Z</dcterms:modified>
</coreProperties>
</file>