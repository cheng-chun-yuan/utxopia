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f2b7bf6b13416c" /><Relationship Type="http://schemas.openxmlformats.org/officeDocument/2006/relationships/extended-properties" Target="/docProps/app.xml" Id="Rfd47d728f016467c" /><Relationship Type="http://schemas.openxmlformats.org/officeDocument/2006/relationships/officeDocument" Target="/ppt/presentation.xml" Id="R68fdc937f275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e7dbb05aa24690"/>
  </p:sldMasterIdLst>
  <p:notesMasterIdLst>
    <p:notesMasterId xmlns:r="http://schemas.openxmlformats.org/officeDocument/2006/relationships" r:id="R889a6681c11e4498"/>
  </p:notesMasterIdLst>
  <p:sldIdLst>
    <p:sldId xmlns:r="http://schemas.openxmlformats.org/officeDocument/2006/relationships" id="256" r:id="Rf85789232a7640e8"/>
    <p:sldId xmlns:r="http://schemas.openxmlformats.org/officeDocument/2006/relationships" id="257" r:id="R43ff3a285b614cb0"/>
    <p:sldId xmlns:r="http://schemas.openxmlformats.org/officeDocument/2006/relationships" id="258" r:id="Rb78b4a3724cd459f"/>
    <p:sldId xmlns:r="http://schemas.openxmlformats.org/officeDocument/2006/relationships" id="259" r:id="Rb0329ed969af4615"/>
    <p:sldId xmlns:r="http://schemas.openxmlformats.org/officeDocument/2006/relationships" id="260" r:id="Rd72b368a03fc4407"/>
    <p:sldId xmlns:r="http://schemas.openxmlformats.org/officeDocument/2006/relationships" id="261" r:id="R7fb6a393f8ea4722"/>
    <p:sldId xmlns:r="http://schemas.openxmlformats.org/officeDocument/2006/relationships" id="262" r:id="R5b10ae1549c8481c"/>
    <p:sldId xmlns:r="http://schemas.openxmlformats.org/officeDocument/2006/relationships" id="263" r:id="R7bfcc9aabb15492f"/>
    <p:sldId xmlns:r="http://schemas.openxmlformats.org/officeDocument/2006/relationships" id="264" r:id="R1f2ff4e0640f4f15"/>
    <p:sldId xmlns:r="http://schemas.openxmlformats.org/officeDocument/2006/relationships" id="265" r:id="R024843569ce244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7dbb05aa24690" /><Relationship Type="http://schemas.openxmlformats.org/officeDocument/2006/relationships/theme" Target="/ppt/theme/theme1.xml" Id="Re0e353c6c674459f" /><Relationship Type="http://schemas.openxmlformats.org/officeDocument/2006/relationships/notesMaster" Target="/ppt/notesMasters/notesMaster1.xml" Id="R889a6681c11e4498" /><Relationship Type="http://schemas.openxmlformats.org/officeDocument/2006/relationships/presProps" Target="/ppt/presProps.xml" Id="Rca92c5482bf44890" /><Relationship Type="http://schemas.openxmlformats.org/officeDocument/2006/relationships/viewProps" Target="/ppt/viewProps.xml" Id="Rffcd20ff702f4e84" /><Relationship Type="http://schemas.openxmlformats.org/officeDocument/2006/relationships/tableStyles" Target="/ppt/tableStyles.xml" Id="Rd9c82abc42844a43" /><Relationship Type="http://schemas.openxmlformats.org/officeDocument/2006/relationships/slide" Target="/ppt/slides/slide1.xml" Id="Rf85789232a7640e8" /><Relationship Type="http://schemas.openxmlformats.org/officeDocument/2006/relationships/slide" Target="/ppt/slides/slide2.xml" Id="R43ff3a285b614cb0" /><Relationship Type="http://schemas.openxmlformats.org/officeDocument/2006/relationships/slide" Target="/ppt/slides/slide3.xml" Id="Rb78b4a3724cd459f" /><Relationship Type="http://schemas.openxmlformats.org/officeDocument/2006/relationships/slide" Target="/ppt/slides/slide4.xml" Id="Rb0329ed969af4615" /><Relationship Type="http://schemas.openxmlformats.org/officeDocument/2006/relationships/slide" Target="/ppt/slides/slide5.xml" Id="Rd72b368a03fc4407" /><Relationship Type="http://schemas.openxmlformats.org/officeDocument/2006/relationships/slide" Target="/ppt/slides/slide6.xml" Id="R7fb6a393f8ea4722" /><Relationship Type="http://schemas.openxmlformats.org/officeDocument/2006/relationships/slide" Target="/ppt/slides/slide7.xml" Id="R5b10ae1549c8481c" /><Relationship Type="http://schemas.openxmlformats.org/officeDocument/2006/relationships/slide" Target="/ppt/slides/slide8.xml" Id="R7bfcc9aabb15492f" /><Relationship Type="http://schemas.openxmlformats.org/officeDocument/2006/relationships/slide" Target="/ppt/slides/slide9.xml" Id="R1f2ff4e0640f4f15" /><Relationship Type="http://schemas.openxmlformats.org/officeDocument/2006/relationships/slide" Target="/ppt/slides/slide10.xml" Id="R024843569ce2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638205da0b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df7a5e11b433c" /><Relationship Type="http://schemas.openxmlformats.org/officeDocument/2006/relationships/notesMaster" Target="/ppt/notesMasters/notesMaster1.xml" Id="R8495ca4419eb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8fe0c3b6e4e95" /><Relationship Type="http://schemas.openxmlformats.org/officeDocument/2006/relationships/notesMaster" Target="/ppt/notesMasters/notesMaster1.xml" Id="Rb842d576ba79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95becd55e4de3" /><Relationship Type="http://schemas.openxmlformats.org/officeDocument/2006/relationships/notesMaster" Target="/ppt/notesMasters/notesMaster1.xml" Id="R1b230010e33c48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0a3eda2b74fbb" /><Relationship Type="http://schemas.openxmlformats.org/officeDocument/2006/relationships/notesMaster" Target="/ppt/notesMasters/notesMaster1.xml" Id="R8d44a9ae1b80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4e5c2ce7c44682" /><Relationship Type="http://schemas.openxmlformats.org/officeDocument/2006/relationships/notesMaster" Target="/ppt/notesMasters/notesMaster1.xml" Id="Rb3d43bfaea41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ae930f62e47a6" /><Relationship Type="http://schemas.openxmlformats.org/officeDocument/2006/relationships/notesMaster" Target="/ppt/notesMasters/notesMaster1.xml" Id="R8f6626b921f1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c4094b8be54a8d" /><Relationship Type="http://schemas.openxmlformats.org/officeDocument/2006/relationships/notesMaster" Target="/ppt/notesMasters/notesMaster1.xml" Id="Rc10f76dfe11a4d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663e64156a4b5f" /><Relationship Type="http://schemas.openxmlformats.org/officeDocument/2006/relationships/notesMaster" Target="/ppt/notesMasters/notesMaster1.xml" Id="R5c2ff864253e42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639e700069483e" /><Relationship Type="http://schemas.openxmlformats.org/officeDocument/2006/relationships/notesMaster" Target="/ppt/notesMasters/notesMaster1.xml" Id="R8ccbddbf1c254e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fbb7f6e2eb4f19" /><Relationship Type="http://schemas.openxmlformats.org/officeDocument/2006/relationships/notesMaster" Target="/ppt/notesMasters/notesMaster1.xml" Id="R9b52075a31ff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45eba469d4f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40f5c9498146e1" /><Relationship Type="http://schemas.openxmlformats.org/officeDocument/2006/relationships/slideLayout" Target="/ppt/slideLayouts/slideLayout2.xml" Id="Rf2bfb92658c343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fb92658c3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b516bc84145aa" /><Relationship Type="http://schemas.openxmlformats.org/officeDocument/2006/relationships/notesSlide" Target="/ppt/notesSlides/notesSlide1.xml" Id="R8ef88eb19e29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2122c5f3b4663" /><Relationship Type="http://schemas.openxmlformats.org/officeDocument/2006/relationships/notesSlide" Target="/ppt/notesSlides/notesSlide2.xml" Id="R7daa38a789e7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390dd2bfbe404a" /><Relationship Type="http://schemas.openxmlformats.org/officeDocument/2006/relationships/notesSlide" Target="/ppt/notesSlides/notesSlide3.xml" Id="Ra5d0a722cc3a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73ce81fd14f0f" /><Relationship Type="http://schemas.openxmlformats.org/officeDocument/2006/relationships/notesSlide" Target="/ppt/notesSlides/notesSlide4.xml" Id="R15ffb89b973d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c8908088248d5" /><Relationship Type="http://schemas.openxmlformats.org/officeDocument/2006/relationships/notesSlide" Target="/ppt/notesSlides/notesSlide5.xml" Id="R1a42009cf1c0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83ff5cb1a64144" /><Relationship Type="http://schemas.openxmlformats.org/officeDocument/2006/relationships/notesSlide" Target="/ppt/notesSlides/notesSlide6.xml" Id="Rbd2232f323e448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71991046448a7" /><Relationship Type="http://schemas.openxmlformats.org/officeDocument/2006/relationships/notesSlide" Target="/ppt/notesSlides/notesSlide7.xml" Id="Rf5c258a07d4e42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df626570646ec" /><Relationship Type="http://schemas.openxmlformats.org/officeDocument/2006/relationships/notesSlide" Target="/ppt/notesSlides/notesSlide8.xml" Id="Rdfa140b61da946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1e6e8a1e7435f" /><Relationship Type="http://schemas.openxmlformats.org/officeDocument/2006/relationships/notesSlide" Target="/ppt/notesSlides/notesSlide9.xml" Id="R6c172c55e5d147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61be3b3c74a2d" /><Relationship Type="http://schemas.openxmlformats.org/officeDocument/2006/relationships/notesSlide" Target="/ppt/notesSlides/notesSlide10.xml" Id="Rcc2eaad646fd42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81172-0089-4F29-BD35-3295392E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EDB2-C02F-488A-9D4C-85E5B174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C6146-500A-44C2-9BC5-8467B6BF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PITCH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22036-FD52-4828-A0BF-2303CDE8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0D376B-4C07-4677-8AAD-C43B49A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890C40-5AF5-4305-99FE-EBD635D0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PRIVATE BITCOIN UX FOR SUI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07E27-28C6-4705-B2A2-3F312F0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UTXOpia makes private Bitcoin usable on Sui.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A7832-4BC5-4A2D-B531-85A60B4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733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zkLogin onboarding + shielded notes + JoinSplit proofs + a clear custody roadmap: single signer now, FROST TSS multiparty control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4555C-0573-4491-9FED-F2C9E86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85800"/>
            <a:ext cx="2381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97F31-5004-4488-BC69-845B733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334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FE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2EFE7"/>
                </a:solidFill>
                <a:latin typeface="Aptos Display"/>
                <a:ea typeface="Aptos Display"/>
                <a:cs typeface="Aptos Display"/>
              </a:rPr>
              <a:t>Judging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888D9-1D47-4EF7-BE90-E1BD7138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B46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7B46A"/>
                </a:solidFill>
                <a:latin typeface="Aptos Display"/>
                <a:ea typeface="Aptos Display"/>
                <a:cs typeface="Aptos Display"/>
              </a:rPr>
              <a:t>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A5BBB-39E1-4898-9173-CB204EB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Real-world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002EC-8138-43D3-B82B-2E3DB4B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CA3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CA3FF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4DB56-9E4A-477E-A0C7-9FBD4A1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Product &amp; 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36D11-625E-4194-81AC-19C5FC1E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FE3C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FE3C1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FCBED-3666-40BB-9902-77C3412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Technical implementation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6EF88-6193-46EC-91DD-1901295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7A6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7A68"/>
                </a:solidFill>
                <a:latin typeface="Aptos Display"/>
                <a:ea typeface="Aptos Display"/>
                <a:cs typeface="Aptos Display"/>
              </a:rPr>
              <a:t>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D1B2D-C8C4-488D-88BA-5B1BE103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Presentation &amp;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BB300-33F4-4781-A232-4642B26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4CA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BC854-FBDA-4787-8836-F2C453F4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Sui Overflow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76EC9-10E4-4FDA-A5F3-23168A04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D7B4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35B09-7A03-4FCA-977A-BA34BEF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BTC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06320-9381-4555-88AE-29495EC1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957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6FE3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33C73-E09F-4B67-BBD2-E6992673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623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zkLogin UX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3B14E-BCB0-4831-A170-132E3C7F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FF7A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9697-D0BE-4EE9-91DE-054829AE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623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7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7A68"/>
                </a:solidFill>
                <a:latin typeface="Aptos"/>
                <a:ea typeface="Aptos"/>
                <a:cs typeface="Aptos"/>
              </a:rPr>
              <a:t>FROST TSS roadmap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8EE6B-ACA3-4585-AFCE-2A94D463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47515-4667-42FE-8D18-F3F6459A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Privacy wins only if the first touch feels like a product, not a ceremony.</a:t>
            </a:r>
          </a:p>
        </p:txBody>
      </p:sp>
    </p:spTree>
    <p:extLst>
      <p:ext uri="{BB962C8B-B14F-4D97-AF65-F5344CB8AC3E}">
        <p14:creationId xmlns:p14="http://schemas.microsoft.com/office/powerpoint/2010/main" val="10005214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14D548-6748-4C4A-B975-B9CAF45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85A71-44C9-4639-B57B-037443B0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B25F1-2E0A-4E4F-B40C-E9E1413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C52BA-ED30-4B5F-BDE2-DAB3EA3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4D939E-16F2-462D-BCE4-F2EC406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6AFE25-4CA1-47C9-8BFD-B7B62BE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7A68"/>
                </a:solidFill>
                <a:latin typeface="Aptos"/>
                <a:ea typeface="Aptos"/>
                <a:cs typeface="Aptos"/>
              </a:rPr>
              <a:t>REAL-WORLD BLOCKER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1A108-6F38-4CC8-997B-A206325B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096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Bitcoin privacy breaks exactly where normal users begin.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659F6-14F7-4F4F-A374-9A41F09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Current paths force users to choose between transparency, custodial trust, or advanced wallet rituals before they can send value privately.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E669A-5426-47A3-92B8-6E98CAE8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A68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F7A6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7E9C3-99C1-4564-A1C8-9606A24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510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C4EB4-18A2-4187-BCDB-FE4E64F4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69E11-F8F4-4A05-A6C8-6F3018C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Transparent address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C9225-DC53-40F2-9253-B82F7826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47815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Deposits, transfers, and withdrawals are linkable by default.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31252-EE42-4520-AB79-CB9C56E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B46A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D7B46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AE9E8-8142-4C8D-A4EB-18AF0A54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510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0E65D-FCCD-4303-A3C8-402B521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0DB16-200A-4AA1-849D-B075957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004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Bridge dashboards expose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0E7A9-DF27-48D8-AE6A-857D5E51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47815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Public wrapped tokens create a second chain graph.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A792E-7BF3-4DE8-AB4D-4BBC41AF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CA3FF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4CA3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7635-BC3B-44AC-9318-D6FA380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510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CEDFB-7FBC-411E-9C06-D6F338A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6AE21-A00D-47DF-A0E8-7DB1A70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4340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Wallet-first onboarding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F6885-0421-4221-A326-2926141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47815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Seed phrases and chain setup appear before product value.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AD508-85CD-4697-9B60-9C11D56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FE3C1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6FE3C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B6469-97BF-42F3-AFAB-67910FB3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510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97263-FA96-49BA-88B8-4D795C92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62C29-5F75-4F79-8FF0-8E7531E5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863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Custody trust is unresolved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84238-BF06-4ED8-B5C0-F5843E20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10200"/>
            <a:ext cx="47815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A demo signer is practical, but production needs multiparty control.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BC52C-6ABA-4748-96B2-21BF1A3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3352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2"/>
          </a:solidFill>
          <a:ln xmlns:a="http://schemas.openxmlformats.org/drawingml/2006/main" w="9525">
            <a:solidFill>
              <a:srgbClr val="2A3D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E9555-F0F8-454C-84ED-DE92E446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User-facing consequence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0B40F-44E9-4163-8970-A933D2B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The people who most need privacy are pushed into tools that feel risky, slow, and obviously crypto-native.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E7CED-A381-47DF-B7DE-2DFDB6B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7806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D408A-1115-436A-83C2-322E1B0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F290B-DE2D-42A9-82ED-F47ED3B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BDC07-1B05-4FB4-AF82-87B4C4B3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PRODUCT 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294A0-08B3-4082-B55F-A3A75F11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DF101D-A594-42B9-A657-069C265C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115B92-D4DF-459A-8BF5-9B689249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ZKLOGIN AS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7D536-43B5-4589-896C-CE282A3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66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zkLogin turns a shielded vault into a normal sign-in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6DD82-8EDC-4FA4-BBA1-7581FC8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The user starts with Google or passkey, receives a private vault identity, and only sees proofs, objects, and network diagnostics when they ask for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23286-7277-43F1-8EB4-EFCF036F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5A96B-E55C-4693-AF14-0DEAE40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004BA-A6EB-4BC4-843A-BEB1F67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1. Sign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73D2D-4B0C-443E-A358-374E603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771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Google / passkey via zkLogin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No seed phrase on first touch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17C05-D649-43F4-AB8F-2E35443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095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4AAD3-28EF-4F7E-AF48-414A6140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E3B08-EB29-4950-A35E-7822F65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2. Create vault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272A-0C2B-4B0C-BA24-F09AEE1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1771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utxo: private vault key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Viewing key stays user-controlled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99E8A-BC2F-4D1A-8D1F-45B3188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2095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B2057-8EDE-41A9-AC96-E884C38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26902-C9D8-4E51-8E5C-48EA32E1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3. Send privately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389B6-0A25-433F-B09F-701050C2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771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JoinSplit proof generated client-side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Recipient sees a stealth note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F93E4-95BC-42E4-8992-EFA1B933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095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854AB-D6FA-437D-88A2-5A68A491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A60A9-68D1-48AD-B9BD-C2B9B63E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4. Exit to BTC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3AC62-A421-4D38-865B-4BB248D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1771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Demo signs through single signer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Future: FROST TSS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85915-5E51-40CF-A8AB-0AE4BBB5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052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F0339-28DD-443C-8E7A-8A85A84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D57FC-2876-410D-A3ED-CFD6CE87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052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78832-B8A6-42AA-8283-9A3D4257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B88F5-8484-4E7F-8F73-B02922E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052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A27E5-183F-4A3D-8103-AC84632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B6A71-7C6A-46D9-90C9-5FA8529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992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A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95E8E-13F9-48EC-BA97-D3217F4A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2DB3B-A8FF-4A1C-8CBF-C69B4D6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UX principle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69AD5-8D60-44C4-9947-C1CB08F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5777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Progressive disclosure: product first, protocol proof when needed.</a:t>
            </a:r>
          </a:p>
        </p:txBody>
      </p:sp>
    </p:spTree>
    <p:extLst>
      <p:ext uri="{BB962C8B-B14F-4D97-AF65-F5344CB8AC3E}">
        <p14:creationId xmlns:p14="http://schemas.microsoft.com/office/powerpoint/2010/main" val="740425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476BD-BF1F-4BDD-B28C-47E45CAB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7FACB-9EAE-4AC5-AE68-658F2D8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AA38C-0080-49CD-8A2B-E3F3E178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0BF8D-2B88-44C5-801B-0763321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28074C-32AE-44BC-89D9-6AA75BAB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AA898C-1F12-487C-835B-D153806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ONE MONEY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9CFFC-6EE5-465B-A398-BB58B71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The app should feel like private payments, not bridge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261E1-978E-4DA2-9CB5-6EC7E8A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847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Primary flows stay visible: deposit BTC, send private value, withdraw. Advanced proof state stays one layer deeper.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31AC0-F8F6-42E3-8554-973C155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1E"/>
          </a:solidFill>
          <a:ln xmlns:a="http://schemas.openxmlformats.org/drawingml/2006/main" w="9525">
            <a:solidFill>
              <a:srgbClr val="304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F092B-FC33-4D33-8B57-4665BB14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75FE6-5C59-421B-8EC7-C5B06C8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VAULT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88557-494E-44B6-BFE2-9525430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Private balance, clear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07827-261A-4A1A-AEA6-B436F919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2C72B-ACC9-4353-B987-6EE76A8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Sui testnet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80F2B-0B37-4FAD-B872-3AAC068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4148F-B92A-46F4-84A4-5030BED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Viewing key controls scanning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361CA-5C35-4BC6-B321-FA6E2EF6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C2AF1-9BFB-4439-A25F-8C532FA1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0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015"/>
                </a:solidFill>
                <a:latin typeface="Aptos"/>
                <a:ea typeface="Aptos"/>
                <a:cs typeface="Aptos"/>
              </a:rPr>
              <a:t>PROOF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D8436-0552-41B2-A665-F78539DF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1E"/>
          </a:solidFill>
          <a:ln xmlns:a="http://schemas.openxmlformats.org/drawingml/2006/main" w="9525">
            <a:solidFill>
              <a:srgbClr val="304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4606B-DD5C-4B39-B3DA-90FA2A6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A31F9-EC33-4D06-A751-CDB471DB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7177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SEND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B3F7D-DA30-4DAC-B650-A2ED7FFC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Recipient-first private transfer.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4E71D-57CA-4C48-8F60-2D7985B1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9E40C-E5CD-4454-A4F0-A95A38B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utxo: address or name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10A70-7CE9-404A-AC90-CACF08E6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04478-DC2B-42BD-AB6D-AD75D9C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6245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Client-side JoinSplit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9B6F9-B4B5-4C69-B54D-0A9D210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529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A8A28-D37F-483D-BC22-FEA5BD4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1962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0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015"/>
                </a:solidFill>
                <a:latin typeface="Aptos"/>
                <a:ea typeface="Aptos"/>
                <a:cs typeface="Aptos"/>
              </a:rPr>
              <a:t>SEND PRIVATELY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1C007-5547-4D9C-8EE4-513D6178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81E"/>
          </a:solidFill>
          <a:ln xmlns:a="http://schemas.openxmlformats.org/drawingml/2006/main" w="9525">
            <a:solidFill>
              <a:srgbClr val="304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73636-8C55-4AEB-83B0-E1A93AB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0B3AC-9259-473C-8E27-C1B3E68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7177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1D22DC-C704-42C6-8340-3924737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BTC withdrawal with signer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C93A4-AA07-428A-A25F-6FFCC65E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481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55593-5B52-4336-AA6C-79144BD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Amount revealed here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6DE1E9-71FA-404D-9C5C-B31FCE8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4815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E499A-2784-4931-B15F-4F2771E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FROST TSS roadmap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7D9743-629B-40E1-A2A0-DF21C8E0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6F80FC-003E-4C88-9137-4B02CC5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19625"/>
            <a:ext cx="2705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0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015"/>
                </a:solidFill>
                <a:latin typeface="Aptos"/>
                <a:ea typeface="Aptos"/>
                <a:cs typeface="Aptos"/>
              </a:rPr>
              <a:t>WITHDRAW BTC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E940C-6455-497C-8279-6673E3C2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00C70A-5C18-4BB6-A346-AEE094E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16073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8FF95-5FFA-4E8B-B353-541B7D2E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BB115-AF0A-405F-B9F3-73131F29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A0E71-EB6A-4A00-BC12-CA3792D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REAL-WORLD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949EC-9A9D-49A5-A744-CBBDD870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E7C5BD-0364-4D6D-A13D-164D5D8E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FCD76D-2835-40CD-A531-D1F26E3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50% OF THE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CA0E5-E4E8-43FE-BC5E-E0E4014B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The wedge is private Bitcoin payments for people with real exposure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5D13C-831F-45B6-85CA-E01AECEE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UTXOpia is not anonymity as a feature toggle; it is a safer payment route when public address graphs create business, personal, or compliance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0DBBD-46D7-4DD4-85E4-D48B90FD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3FC78-AA55-4013-B807-00235BC5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7B7"/>
                </a:solidFill>
                <a:latin typeface="Aptos"/>
                <a:ea typeface="Aptos"/>
                <a:cs typeface="Aptos"/>
              </a:rPr>
              <a:t>Why privacy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F6449-7F90-4762-BBFF-7D7335FF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B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7B7"/>
                </a:solidFill>
                <a:latin typeface="Aptos"/>
                <a:ea typeface="Aptos"/>
                <a:cs typeface="Aptos"/>
              </a:rPr>
              <a:t>Sui-native proof of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329F8-E369-4902-9EC8-2C05067B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DD090-50CA-4A36-9B47-6758DC5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Freelance / cross-border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FD6F1-6D23-4E5F-B928-C9263263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3371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Clients should not expose total wallet history when paying in BTC.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E54A9-E0AB-4336-8129-23CB923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zkLogin vault lowers onboarding; PTBs compose payment + app intent.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47EB-8BB3-4253-9A6D-F7C592CF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5484F-E5B7-4D17-98E8-64D1382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DAO / contributor payouts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E8170-056A-4F81-8A22-F40B4CA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19500"/>
            <a:ext cx="3371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Contributor compensation can be verified without public salary graph leakage.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889FD-C5F4-40D7-A03C-AC933FA9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95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Events let indexers show status without exposing note internals.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EBCBC-840B-4642-B1F1-CA680D31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4F9C7-01CB-4690-9B3D-3476E02A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Treasury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9C6E0-1AB7-476D-BB30-E6ABA02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29100"/>
            <a:ext cx="3371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Organizations need audit visibility for authorized viewers, not public balances.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6B628-4365-4234-9C02-B2D7320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Viewing keys support accounting without spending authority.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33605-C6B1-4E84-97A6-EC437D8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95842-D80B-449A-9628-2F212484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Donations / sensitive payments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9AA69-8D93-4951-B634-ADAE3033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3371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Recipient safety can depend on unlinkable deposits and transfers.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450EB-D63F-4604-8D95-497497E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Stealth notes hide recipient linkage while preserving withdrawal rules.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F69E0-0046-4EAF-B950-B245FA1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23639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ECAC1-961B-4E0F-817E-674DFD7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175F2-2EA1-479E-9C03-472EE7B7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10A76-2DD4-4982-9ECB-AAF829C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SUI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35B4B-5676-49A9-AEEB-9D52CB6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A0B0A2-FBEC-45C6-B418-F2F7F17D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FF09CE-AD00-455F-9934-1160136D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OBJECTS + PTBS +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BF283-95D2-4E21-A529-E128B72B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Sui becomes the execution layer for private note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3D28E-37E6-4154-A9AD-C78367B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The Sui package is a new implementation: shared objects, capability-gated authority, PTB builders, and stable events instead of Solana PDAs and CPI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85376-1542-404E-832D-8E51A0B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7621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7B06-0353-4D3D-80E8-98C78454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8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CB0D8-0572-4ABF-AC5C-05E91F2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457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Client SDK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9DC1F-554B-48D1-B3D2-212A1AE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4382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zkLogin session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proof inputs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PTB builders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3EEC8-A217-4166-B706-07B900B9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665AD-4369-496F-B562-14ECA33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9E8FC-3C80-49B0-81A3-C4490187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336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Pool object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2987C-9E11-49CB-ACF4-3F2C6B67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1628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pause + config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current tree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03C16-6F3B-46E3-82CB-B59F7D2A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37C87-E854-49AD-9C7E-574F0377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E44F9-15DB-4EDC-9297-01554023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Merkle tree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8046F-019D-4BFA-BE5B-7A40717C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71950"/>
            <a:ext cx="1628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commitment insertion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root history depth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09B7C-FE4C-49A6-B49B-429789B2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6D60E-5167-47DB-9C96-2FE631A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8DA15-0FB4-4CBF-A0B2-F9A7B42F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336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Nullifier registry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A4C78-701D-4A7B-80E2-36F8A19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spent keys as dynamic fields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replay prevention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671D7-D9E4-4414-BC97-F2179EA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496FD-27EF-440E-AFBF-E29E2061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F67B4-E1B9-4A4B-A7BC-E21357A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Groth16 verifier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39B15-3BDE-4EA2-AD0B-9ADCBC3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BN254 prepared VK registry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native sui::groth16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D20F1-55B1-41C5-A78E-9C744405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190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79097-D513-4E68-BB5B-3FA45C7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8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9CA965-1CE6-4D6E-BDAF-D5B28461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Events / Indexer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BDE78-064A-491D-9B0E-07B6A7FB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1866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CommitmentInserted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NullifierSpent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JoinSplitVerified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9DA40-B8C8-4E3B-B62E-678B43D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4805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05E274-835B-4E55-A4B5-0884CBB9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D94B69-5D29-4380-BD41-CCA8663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C0C23C-82A4-4566-B4AE-17EE476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A6B67-24BA-4DE8-88C6-43EC598A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10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904CD0-C89C-4CA5-9E83-BD800BD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62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99E2CF-E7BA-4421-93DF-3826BA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DF14D3-B6FB-45CE-9D35-E6BD245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5F8475-3D8A-47BF-8F44-C03838A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Capability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A5389D-6DEA-4ED7-AE80-7CC471A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737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AdminCap, UpgradeCap, and future signer-control caps keep privileged paths explicit at the object layer.</a:t>
            </a:r>
          </a:p>
        </p:txBody>
      </p:sp>
    </p:spTree>
    <p:extLst>
      <p:ext uri="{BB962C8B-B14F-4D97-AF65-F5344CB8AC3E}">
        <p14:creationId xmlns:p14="http://schemas.microsoft.com/office/powerpoint/2010/main" val="14456295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A8055-F8CD-42C7-BEE9-0C2F3CD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0824C-71FD-49A0-A86E-B7E25097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325BA-9F0A-41D0-B9F2-3F525344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TECHNICAL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DDC94-D38E-4E96-8261-D0431BA3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8D8F85-6988-4EF9-9928-C8283165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962C7F-42B3-4C73-A187-02D09D2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JOIN SPLIT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B304F-17A2-4EE5-9E3A-C89B01A2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14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Balances stay private while conservation is proven.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9F26B-8D0A-4DD5-BECF-DB055D11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The deck only needs one technical layer: what is hidden, what is public, and what Sui verifies.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03D4F-FE2F-48D2-84B1-1E8FCFA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DA120-98A0-488A-9E51-CD9FD6C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24E39-20A2-434F-9A80-ABC56963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Private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4B697-7916-4985-8AA9-3D80040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676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notes, amounts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spending key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nullifying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4601-A521-4277-9AE6-D8BF64D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5CEF1-B759-485A-ADD8-8ED650B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A66C8-EF35-432F-99E1-16FED67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Commitment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C788E-94FC-4A64-9577-871485E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Poseidon(npk,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token_id, amount)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F99D5-8250-4234-9368-41294C0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C215E-FBD2-4B6B-93D5-2485737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F3629-DE69-4708-AB58-FF02A60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81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Nullifier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26D85-211A-42B6-8638-3E580F5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Poseidon(nullifyingKey,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leafIndex)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7429C-1652-4AB0-B2AE-2D85C86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38450"/>
            <a:ext cx="2209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38EA1-5C67-4000-A1AA-87EA9D6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3845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D1660-A653-41AB-8737-AE060EE6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Groth16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73E79-36A1-4C4A-8139-8DD6011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JoinSplit(N,M)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spend old notes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create new commitments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4A34F-E054-4641-A4D8-675D6EE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2702F-638A-49B0-B14C-7AB9D37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9B73D-7144-440B-8783-3800F840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Public on Sui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3BCAC0-5A0F-49AF-8434-AAF5F5D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95650"/>
            <a:ext cx="1295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root, nullifiers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new commitments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bound params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D6CE7-34A6-4778-8515-6ED64DE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814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F1936-AE72-49EE-AA70-CB5CC43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0E55A-EF47-4EED-831A-0BE64A3B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814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DD3F60-9698-4CB7-9FCE-BF270AE8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2C440-6B69-40DD-B65A-9F6F62D6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3AF12-AC4F-4D75-8117-8CC347E8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33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365D1-6A25-4940-BE7A-459EEB94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67300"/>
            <a:ext cx="601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A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A7B231-1080-4701-BCD3-1C17003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112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Sui constraint to handle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C48E5E-A4FC-4AFA-9FD7-4066A67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72075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native Groth16 public-input limits mean MVP arities stay small or pack public inputs before larger JoinSplit variants.</a:t>
            </a:r>
          </a:p>
        </p:txBody>
      </p:sp>
    </p:spTree>
    <p:extLst>
      <p:ext uri="{BB962C8B-B14F-4D97-AF65-F5344CB8AC3E}">
        <p14:creationId xmlns:p14="http://schemas.microsoft.com/office/powerpoint/2010/main" val="12735793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CCA19-1523-49B9-A04F-3D0B0C5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5C4F-6DCD-421F-BF14-7FF9D542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ABAD1-31B4-4052-B97A-7A76253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BTC WITHDRAWAL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2E039-2A3D-4E24-B7F6-A24D42B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FB55BB-6DCA-4519-ADF4-8B36169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E26B6A-8E48-4E1F-BAED-9B32FC18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SIGNER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72236-FF1F-4B5B-B21A-F0233E04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BTC exits start simple, then move to multiparty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17E97-356E-405B-AF29-A1ABD5A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For the competition demo, a single signer keeps the withdrawal loop demoable. The production direction is FROST TSS so no single operator controls BTC signing.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4096B-DC5F-46A0-95CD-875FE0B0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962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F1105-4B69-4219-969C-4A45C3F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8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EEB77-A41A-4C4B-BE1D-730DFFB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Redemption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32DF8-E507-4B73-AE92-7AF8093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638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spend private note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create request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A2E8-B349-4BEF-833F-4D6164F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BC4A3-3A1B-4430-8A4C-53FA9D08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62B59-6FFB-4F08-AE9C-9B3B8D6F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Move policy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465AC-CDB2-4AA7-8E0B-E0978AE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not paused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request exists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amount + fee caps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destination 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9A798-FA71-49E6-9009-D82C3983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22479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481D0-B0BA-45F0-AFED-EF594E72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38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2C316-0790-4E96-8444-3E486EA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99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Single signer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F1219-874D-4565-A49A-9E2E7B77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demo signer builds Taproot tx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keeps scope testable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BFFF6-E2CF-4B02-854E-9DC3766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94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C885D-00DD-4786-8CAB-D1E1AA69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70FB2-B4DF-41E6-B4C6-268323E0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FROST TSS 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AFF77-17C1-4F65-B071-C5759E1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threshold key shares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multiparty approval</a:t>
            </a:r>
          </a:p>
          <a:p xmlns:a="http://schemas.openxmlformats.org/drawingml/2006/main">
            <a:pPr algn="l">
              <a:def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no single signer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DC270-5226-4304-87EC-7BC77593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575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69AFB-5F0B-48DE-80C8-86F8887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9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A0DA2-3A2A-4D7D-97FD-E5972D55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575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5DAF9-E602-4BF7-B4E9-8C6630B7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D714D-B5DF-460A-A65E-12AF069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1C341-55AA-49F6-BE35-B85D380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6D70"/>
          </a:solidFill>
          <a:ln xmlns:a="http://schemas.openxmlformats.org/drawingml/2006/main" w="0">
            <a:solidFill>
              <a:srgbClr val="5D6D7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021C30-D678-49F9-97A1-79D7991C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Trust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06C7C-CE3B-4497-B223-A1364E1B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387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We are explicit: current signing is centralized for demo speed; the hardening path is FROST TSS multiparty custody.</a:t>
            </a:r>
          </a:p>
        </p:txBody>
      </p:sp>
    </p:spTree>
    <p:extLst>
      <p:ext uri="{BB962C8B-B14F-4D97-AF65-F5344CB8AC3E}">
        <p14:creationId xmlns:p14="http://schemas.microsoft.com/office/powerpoint/2010/main" val="14107347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BF2E6-F37D-4AC6-8F2B-603F2B53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D9E2B-EDD4-43E5-B35B-CD7182FD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4249F-996A-4C6B-B51F-2D94968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F70E0-F78B-4DD7-B24F-C949A6F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8BBFED-74B7-4BA1-8811-1AEBC3A5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0F5FE0-207C-4613-BB03-0313308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7A68"/>
                </a:solidFill>
                <a:latin typeface="Aptos"/>
                <a:ea typeface="Aptos"/>
                <a:cs typeface="Aptos"/>
              </a:rPr>
              <a:t>DEMOABLE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62072-DC72-473D-8080-0770224B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The hackathon build is narrow enough to demo and broad enough to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29B5A-635B-4540-83F0-A3DE407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The roadmap separates contest deliverables from production hardening so judges can see progress without pretending every dependency is finished.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CAF16-7AE2-4967-9508-73A66B0C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54762-A534-47D7-ADF4-D213358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9525">
            <a:solidFill>
              <a:srgbClr val="6FE3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BA3C0-4259-4B55-8466-000C31E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E3C1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3C1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AD351-BEB7-4A8A-8179-FED00C6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A3CA2-DB1B-4AFB-BFA6-2ECF5A0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Sui POC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6DF6F-3817-4F71-82AF-983F444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zkLogin / passkey vault, Sui state config, local single-signer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D0917-3DDA-4A86-AC3D-D0B55B3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1296E-4C06-4F97-AAE0-3DC10CF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33"/>
          </a:solidFill>
          <a:ln xmlns:a="http://schemas.openxmlformats.org/drawingml/2006/main" w="9525">
            <a:solidFill>
              <a:srgbClr val="6FE3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5566D-A1C8-4722-818F-D0566DC6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E3C1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3C1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6E48A-38E8-497B-AA53-1061D88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Hackathon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A90B1-DDEA-41DA-815D-4AAD43D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Private send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23B3E-C3DC-4877-B153-EA99B1E7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Move pool objects, note events, small-arity Groth16 verifier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A5EC6-80A0-4F77-A764-8BF95619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D2BDC-223E-4FAA-8F60-01585B7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A"/>
          </a:solidFill>
          <a:ln xmlns:a="http://schemas.openxmlformats.org/drawingml/2006/main" w="9525">
            <a:solidFill>
              <a:srgbClr val="3850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04AD0-0EFC-4162-81B6-7536FA2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7B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9B7B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8C6D8-FC16-4E9B-8126-248B990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CC0D9-074A-47AD-BD9B-8B3928E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FROST TSS custody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A1634-67CD-4C21-A5E7-A96B4359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threshold key shares, signer quorum, policy-bound BTC withdrawals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4FD30-9DF8-44DA-969C-704F65C7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211BF-B35B-4924-AADE-6295B627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A"/>
          </a:solidFill>
          <a:ln xmlns:a="http://schemas.openxmlformats.org/drawingml/2006/main" w="9525">
            <a:solidFill>
              <a:srgbClr val="3850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2B973-949C-40D4-990A-780B3D41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7B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9B7B7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8A4FE-A1AD-4CC3-A42B-2AEB67D7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CA3FF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C40A1-E499-4F71-A735-BE52F17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Production hardening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87E20-A5FD-4EC6-99EB-AAE6372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input packing, audit, monitoring, compliance viewing workflows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C83E3-FEAE-49F5-A826-6BE5EA0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0FFB4B-7346-464B-B9E3-54579403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A68"/>
                </a:solidFill>
                <a:latin typeface="Aptos"/>
                <a:ea typeface="Aptos"/>
                <a:cs typeface="Aptos"/>
              </a:rPr>
              <a:t>Honest disclosure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1FD39-A2F4-4B3A-9D43-12F6301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245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Single signer is the demo path; FROST TSS is the planned custody hardening path for multiparty control.</a:t>
            </a:r>
          </a:p>
        </p:txBody>
      </p:sp>
    </p:spTree>
    <p:extLst>
      <p:ext uri="{BB962C8B-B14F-4D97-AF65-F5344CB8AC3E}">
        <p14:creationId xmlns:p14="http://schemas.microsoft.com/office/powerpoint/2010/main" val="1664566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E6EA89-544D-4541-B9B3-0791A4A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D637C-3C3C-481E-BD63-838D3A60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0DF90-3C08-41B0-A7F8-2E1D8EF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67C6F-D198-43E1-B8A5-C322079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D7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69BF8E-F761-45E6-8815-84889BCA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5EBD1CE-B21F-46E5-BB60-55604E3D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E3C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3C1"/>
                </a:solidFill>
                <a:latin typeface="Aptos"/>
                <a:ea typeface="Aptos"/>
                <a:cs typeface="Aptos"/>
              </a:rPr>
              <a:t>JUDGING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E11DA-AFF2-43AA-814C-3517958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This pitch is built around the scorecard.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72987-FAF4-4EC6-9237-26C26C5B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The strongest path is to show a real user workflow first, then prove the Sui implementation is credible with a small number of precise technical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6081E-D4F8-4623-B3A3-134FC41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539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30C6D-FA35-4E99-AEA1-DC434C2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5D17-94C1-4B6B-85B9-AD50E0E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Real-world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CD5B5-E6BE-4B2D-9261-8C052965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B46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7B46A"/>
                </a:solidFill>
                <a:latin typeface="Aptos Display"/>
                <a:ea typeface="Aptos Display"/>
                <a:cs typeface="Aptos Display"/>
              </a:rPr>
              <a:t>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8280D-9797-4A91-B840-D39B4A0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Private BTC payments for payroll, DAO contributors, treasury, and sensitive transfers.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75EA9-84B0-453B-98A9-97D525F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2539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266B-80B1-4280-80E9-CE20AE7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454B6-D429-40DD-A846-2A26510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Product &amp; 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BDF6D-AA38-42F7-B99F-3224AFA8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042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CA3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CA3FF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69B32-0C48-4547-A37C-257B6954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zkLogin makes first use feel like sign-in; proof details are progressively disclosed.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BCED7-FF6D-42B4-90C7-CCD8EF1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D"/>
          </a:solidFill>
          <a:ln xmlns:a="http://schemas.openxmlformats.org/drawingml/2006/main" w="9525">
            <a:solidFill>
              <a:srgbClr val="2539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F5B81-75EB-4C0A-ABBB-071FDE70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3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E38C0-9193-40BA-9601-C7F42BC5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Technical 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EB051-BC09-423C-8541-213602A6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67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E3C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FE3C1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51E0E-9000-4D67-9277-AE1FECEC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Sui objects + PTBs + native Groth16 verifier + FROST TSS custody roadmap.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A00BF-9811-4E3A-8359-8342578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0"/>
          </a:solidFill>
          <a:ln xmlns:a="http://schemas.openxmlformats.org/drawingml/2006/main" w="9525">
            <a:solidFill>
              <a:srgbClr val="2539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2FDA0-0D87-453D-A867-5C8B5832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D2709-63AA-4554-BE95-4250F3F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Presentation &amp; 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37B39-0045-4E0E-82CB-1471C78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3392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A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7A68"/>
                </a:solidFill>
                <a:latin typeface="Aptos Display"/>
                <a:ea typeface="Aptos Display"/>
                <a:cs typeface="Aptos Display"/>
              </a:rPr>
              <a:t>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9CFC2-3C25-4CC6-A992-C2E52FC9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A9B7B7"/>
                </a:solidFill>
                <a:latin typeface="PingFang TC"/>
                <a:ea typeface="PingFang TC"/>
                <a:cs typeface="PingFang TC"/>
              </a:rPr>
              <a:t>A focused bridge from demo scope to production-grade private Bitcoin UX.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CF349-9DFA-48C7-A44E-1804BDC2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D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D70"/>
                </a:solidFill>
                <a:latin typeface="Aptos"/>
                <a:ea typeface="Aptos"/>
                <a:cs typeface="Aptos"/>
              </a:rPr>
              <a:t>Closing 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49498-B131-4130-9F5B-25569A3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2EFE7"/>
                </a:solidFill>
                <a:latin typeface="PingFang TC"/>
                <a:ea typeface="PingFang TC"/>
                <a:cs typeface="PingFang TC"/>
              </a:rPr>
              <a:t>UTXOpia is not just a private bridge; it is a Sui-native way to make Bitcoin privacy usable.</a:t>
            </a:r>
          </a:p>
        </p:txBody>
      </p:sp>
    </p:spTree>
    <p:extLst>
      <p:ext uri="{BB962C8B-B14F-4D97-AF65-F5344CB8AC3E}">
        <p14:creationId xmlns:p14="http://schemas.microsoft.com/office/powerpoint/2010/main" val="373448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2026-05-31T03:09:47.9700000Z</dcterms:created>
  <dcterms:modified xsi:type="dcterms:W3CDTF">2026-05-31T03:09:47.9700000Z</dcterms:modified>
</coreProperties>
</file>