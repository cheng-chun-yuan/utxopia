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7b7e55446f4930" /><Relationship Type="http://schemas.openxmlformats.org/officeDocument/2006/relationships/extended-properties" Target="/docProps/app.xml" Id="R4c01449f5acc4086" /><Relationship Type="http://schemas.openxmlformats.org/officeDocument/2006/relationships/officeDocument" Target="/ppt/presentation.xml" Id="R05690b83699148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caa2801d114123"/>
  </p:sldMasterIdLst>
  <p:notesMasterIdLst>
    <p:notesMasterId xmlns:r="http://schemas.openxmlformats.org/officeDocument/2006/relationships" r:id="R7c990d6748404686"/>
  </p:notesMasterIdLst>
  <p:sldIdLst>
    <p:sldId xmlns:r="http://schemas.openxmlformats.org/officeDocument/2006/relationships" id="256" r:id="R1ff40c7b52fa44f0"/>
    <p:sldId xmlns:r="http://schemas.openxmlformats.org/officeDocument/2006/relationships" id="257" r:id="Rab9818447cf74bb1"/>
    <p:sldId xmlns:r="http://schemas.openxmlformats.org/officeDocument/2006/relationships" id="258" r:id="Rad0e61ec5a4b427e"/>
    <p:sldId xmlns:r="http://schemas.openxmlformats.org/officeDocument/2006/relationships" id="259" r:id="R64468b709dbe4a03"/>
    <p:sldId xmlns:r="http://schemas.openxmlformats.org/officeDocument/2006/relationships" id="260" r:id="R1522796c3b984ec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aa2801d114123" /><Relationship Type="http://schemas.openxmlformats.org/officeDocument/2006/relationships/theme" Target="/ppt/theme/theme1.xml" Id="Rd513d20fda42440c" /><Relationship Type="http://schemas.openxmlformats.org/officeDocument/2006/relationships/notesMaster" Target="/ppt/notesMasters/notesMaster1.xml" Id="R7c990d6748404686" /><Relationship Type="http://schemas.openxmlformats.org/officeDocument/2006/relationships/presProps" Target="/ppt/presProps.xml" Id="Rb74c6084a3e94e21" /><Relationship Type="http://schemas.openxmlformats.org/officeDocument/2006/relationships/viewProps" Target="/ppt/viewProps.xml" Id="Rbfae0a127e8c4682" /><Relationship Type="http://schemas.openxmlformats.org/officeDocument/2006/relationships/tableStyles" Target="/ppt/tableStyles.xml" Id="R633ab198b1c7429b" /><Relationship Type="http://schemas.openxmlformats.org/officeDocument/2006/relationships/slide" Target="/ppt/slides/slide1.xml" Id="R1ff40c7b52fa44f0" /><Relationship Type="http://schemas.openxmlformats.org/officeDocument/2006/relationships/slide" Target="/ppt/slides/slide2.xml" Id="Rab9818447cf74bb1" /><Relationship Type="http://schemas.openxmlformats.org/officeDocument/2006/relationships/slide" Target="/ppt/slides/slide3.xml" Id="Rad0e61ec5a4b427e" /><Relationship Type="http://schemas.openxmlformats.org/officeDocument/2006/relationships/slide" Target="/ppt/slides/slide4.xml" Id="R64468b709dbe4a03" /><Relationship Type="http://schemas.openxmlformats.org/officeDocument/2006/relationships/slide" Target="/ppt/slides/slide5.xml" Id="R1522796c3b984e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d7a2ae88c1a47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1fca68713041ed" /><Relationship Type="http://schemas.openxmlformats.org/officeDocument/2006/relationships/notesMaster" Target="/ppt/notesMasters/notesMaster1.xml" Id="Raae7edd7933740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225d9bbbfd4ef7" /><Relationship Type="http://schemas.openxmlformats.org/officeDocument/2006/relationships/notesMaster" Target="/ppt/notesMasters/notesMaster1.xml" Id="R9b1abb8043b8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bce43827834f90" /><Relationship Type="http://schemas.openxmlformats.org/officeDocument/2006/relationships/notesMaster" Target="/ppt/notesMasters/notesMaster1.xml" Id="R8c75f12e280f4d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3948ed8f5a4ebd" /><Relationship Type="http://schemas.openxmlformats.org/officeDocument/2006/relationships/notesMaster" Target="/ppt/notesMasters/notesMaster1.xml" Id="R7ac70eb1f9404d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34462e93c94385" /><Relationship Type="http://schemas.openxmlformats.org/officeDocument/2006/relationships/notesMaster" Target="/ppt/notesMasters/notesMaster1.xml" Id="R76375a807f4b46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framing: UTXOpia lets Bitcoin move into Sui privately, without turning every transfer into a public wrapped-token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the two core pain points directly: privacy is lost once BTC becomes a public wrapped token, and idle BTC cannot participate in Sui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deposit path: the Bitcoin transaction is proven against a block hash, the OP_RETURN links to recipient note material, and Sui inserts the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about the invariant: JoinSplit proves the transfer is balanced and authorized while hiding which notes moved to whom.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making the burn/request sequence clear: private note is consumed, Ika signs the Bitcoin transaction, Bitcoin confirmation is verified, then Sui marks withdrawal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bea5f354142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82fb55952b4993" /><Relationship Type="http://schemas.openxmlformats.org/officeDocument/2006/relationships/slideLayout" Target="/ppt/slideLayouts/slideLayout2.xml" Id="R8605982a326a42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05982a326a42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fd089515724d75" /><Relationship Type="http://schemas.openxmlformats.org/officeDocument/2006/relationships/notesSlide" Target="/ppt/notesSlides/notesSlide1.xml" Id="R714c87a3d43246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fa7eaeb3974336" /><Relationship Type="http://schemas.openxmlformats.org/officeDocument/2006/relationships/notesSlide" Target="/ppt/notesSlides/notesSlide2.xml" Id="R511c57f30aa744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0d73714d14674" /><Relationship Type="http://schemas.openxmlformats.org/officeDocument/2006/relationships/notesSlide" Target="/ppt/notesSlides/notesSlide3.xml" Id="R7baed13ab49c4b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ec9989a1d94c30" /><Relationship Type="http://schemas.openxmlformats.org/officeDocument/2006/relationships/notesSlide" Target="/ppt/notesSlides/notesSlide4.xml" Id="R1dc56015d4ac45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291a2568934778" /><Relationship Type="http://schemas.openxmlformats.org/officeDocument/2006/relationships/notesSlide" Target="/ppt/notesSlides/notesSlide5.xml" Id="R15aef2c62c934c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B27FAB-1322-45FD-9C36-57AA00A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BD716-0399-405F-97DD-93FCE9D7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DA421-A8AD-499C-8FBC-67A65C5B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2E731-8E6E-4600-A9D9-E8ACBE7C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38100" rIns="0" bIns="3810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UTXOPIA / SUI PRIVACY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5D1BA1-A17D-4B5D-A79E-41316EA8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rPr>
              <a:t>Private Bitcoin rails without public wrapped-token transfers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21255-951C-4EF3-BBCC-0DFA3435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7239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BTC deposits become shielded commitments. Transfers happen through JoinSplit ZK proofs. Withdrawals use Ika signing and on-chain confirmation checks.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90992-B355-49E7-B773-EEDAD397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2EE59D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Deposit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5D398-AE1E-4977-917B-1201364A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D8B7-CF6C-4229-A8D3-40F74254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C99A1-E11B-48C2-8A20-B60C8C8A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766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6BC7FF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Commitment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86C57-E269-4194-AA51-8A19ECA5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481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FED7-F58B-41AF-9114-1D08AB91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68311-98EB-4F8D-9AFE-EBE2E8D5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FFB45C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JoinSplit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59030-2BE6-461C-8B16-D10773F9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4E8B6-D1DE-4491-A182-BAD849B0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C84CE-39AD-4253-ACF5-4B65F052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766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2EE59D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Ika Withdraw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FAE01-B0F0-451F-BE73-8201FDE1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0363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6CC213-F220-464A-8B00-76BF34CD6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44E1AC-733C-4C7B-9306-6F651010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815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4FFF9"/>
                </a:solidFill>
                <a:latin typeface="Aptos"/>
                <a:ea typeface="Aptos"/>
                <a:cs typeface="Aptos"/>
              </a:rPr>
              <a:t>Keep BTC productive across Sui while preserving the privacy properties users expect from UTXO-style money.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49D83-1C6A-49C2-94D1-58BF0F11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1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57166"/>
                </a:solidFill>
                <a:latin typeface="Aptos"/>
                <a:ea typeface="Aptos"/>
                <a:cs typeface="Aptos"/>
              </a:rPr>
              <a:t>UTXOpia | BTC privacy across Sui</a:t>
            </a:r>
          </a:p>
        </p:txBody>
      </p:sp>
    </p:spTree>
    <p:extLst>
      <p:ext uri="{BB962C8B-B14F-4D97-AF65-F5344CB8AC3E}">
        <p14:creationId xmlns:p14="http://schemas.microsoft.com/office/powerpoint/2010/main" val="2123421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43A7C2-9EC1-46D7-96B9-F221B014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531A4-990C-4233-9D9B-C6DC6530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F1661-2C80-47BA-A6AB-92EEDCBF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CB48C-84ED-4504-9E52-EDE86F12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38100" rIns="0" bIns="3810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DB77-9EE4-4DD5-85D8-36F0C13F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rPr>
              <a:t>Bitcoin is liquid, but privacy and utility are separated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A8C1C-7B11-44AB-9D41-6F644EEA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Users can hold BTC privately or use capital on-chain, but today those paths usually leak activity or strand the asset.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22731-56CF-401C-98B3-14B36E53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71361-1DAF-41F2-AF3B-09041E5E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D0EFA-433E-4445-81A0-2F476BAF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FF9"/>
                </a:solidFill>
                <a:latin typeface="Aptos"/>
                <a:ea typeface="Aptos"/>
                <a:cs typeface="Aptos"/>
              </a:rPr>
              <a:t>Privacy breaks at the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5F304-30F9-429E-8C85-A27AFA62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Wrapped BTC and account-based transfers expose balances, counterparties, timing, and transaction graph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43AF9-BE58-4B68-9179-5E8086C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89EA0-57EF-48DA-B053-FFFFDB79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0">
            <a:solidFill>
              <a:srgbClr val="FFB4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282B4-3E93-4D46-81B1-65140507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0517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FF9"/>
                </a:solidFill>
                <a:latin typeface="Aptos"/>
                <a:ea typeface="Aptos"/>
                <a:cs typeface="Aptos"/>
              </a:rPr>
              <a:t>Idle BTC earns nothing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BB196-DDE4-4980-82A7-67BA7F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Native BTC sits outside programmable ecosystems, leaving users unable to deploy liquidity without giving up custody assumptions.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79BCC-6A94-4401-9B04-2D067C66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3257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3CC318-4754-4046-A584-F8C05B41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7FF"/>
          </a:solidFill>
          <a:ln xmlns:a="http://schemas.openxmlformats.org/drawingml/2006/main" w="0">
            <a:solidFill>
              <a:srgbClr val="6BC7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2A86A-2E6D-4B2C-8528-B6FFDB3A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FF9"/>
                </a:solidFill>
                <a:latin typeface="Aptos"/>
                <a:ea typeface="Aptos"/>
                <a:cs typeface="Aptos"/>
              </a:rPr>
              <a:t>Compliance needs selective visibility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58C73-72A6-4358-ADF7-4E14A650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95700"/>
            <a:ext cx="2895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Teams need proof and auditability without making every user transfer globally readable forever.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58A3-FDC6-4C4C-9FA9-5C70F16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19700"/>
            <a:ext cx="864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75324-564E-4F09-BE88-23935A94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19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0">
            <a:solidFill>
              <a:srgbClr val="132923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FF9"/>
                </a:solidFill>
                <a:latin typeface="Aptos"/>
                <a:ea typeface="Aptos"/>
                <a:cs typeface="Aptos"/>
              </a:rPr>
              <a:t>Design goal: BTC utility on Sui with shielded note movement, nullifier safety, and auditable proof boundaries.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A115D-900E-45AB-B918-0237086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1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57166"/>
                </a:solidFill>
                <a:latin typeface="Aptos"/>
                <a:ea typeface="Aptos"/>
                <a:cs typeface="Aptos"/>
              </a:rPr>
              <a:t>UTXOpia | BTC privacy across Sui</a:t>
            </a:r>
          </a:p>
        </p:txBody>
      </p:sp>
    </p:spTree>
    <p:extLst>
      <p:ext uri="{BB962C8B-B14F-4D97-AF65-F5344CB8AC3E}">
        <p14:creationId xmlns:p14="http://schemas.microsoft.com/office/powerpoint/2010/main" val="1598087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50208B-F3B9-4181-8114-8A998E92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C9E83-DCBE-4182-91BF-BC414DD6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C5AF1-03BD-4253-B60F-E12E4052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A2D7-0EEC-4575-8AEA-7AB45874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38100" rIns="0" bIns="3810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1 / DEPOSIT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4AC82-0F25-43FE-8A6E-23F59053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rPr>
              <a:t>BTC deposit proves origin, then inserts a shielded commitment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38940-5D75-4760-B9A1-6E4D684D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23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Sui receives enough Bitcoin evidence to bind the deposit before the note enters the Merkle tree.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A56C7-09AD-4F03-BC6D-F2D2774B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9B240-BF50-405F-9E30-626CB776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BTC block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CED1D-B3D5-4C33-9350-24FD5317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Anchor the relevant Bitcoin block/header data for the deposit proof path.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14251-8430-4A9A-8D99-482C5C4F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29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47F41-6E6C-4CA7-9194-FE7FDC60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A1253-0048-4D19-8C4B-0A7426B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8E404-36B5-4FF8-9AF9-751D78EF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Prove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36D77-7F6F-4851-9F7A-5B8157F0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Verify transaction, output, amount, and OP_RETURN payload against the anchored block.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8FACF-1CF8-4733-AAD5-64FD42C8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29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559A37-1325-4204-802A-AF02CDE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AD387-F5C2-4085-B693-81843F82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2F0E7-184E-4A07-BB97-087CF19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29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Decode note payload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B6BBB-88DB-4314-9E45-59D0A94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Extract ephemeral public key and note public key from OP_RETURN.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2FE4D-027F-4FA1-9808-66730980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29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A2C9F-95F4-4434-A546-A6EDC705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7190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91588-BF8D-4EDA-82CA-167EE78A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B74839-0FF1-4EF1-B302-29BBC55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29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Add commitment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BECD2C-76F3-4644-B9C4-ADA70C42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7190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Compute and insert Poseidon(npk, token, amount) into the Sui Merkle tree.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59319-F2AE-49E4-B5C9-92F5D743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86350"/>
            <a:ext cx="723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C0AB3-A0F2-40C9-BF3A-15FE6D15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38750"/>
            <a:ext cx="6896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Deposit invariant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38AB5-7A7A-4971-8369-BB2AF82A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81650"/>
            <a:ext cx="689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No public zkBTC balance is minted. The user receives a private note represented by a commitment and later spends it with a nullifier.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28633-00F0-4BA4-A90A-7B47C0B8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1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57166"/>
                </a:solidFill>
                <a:latin typeface="Aptos"/>
                <a:ea typeface="Aptos"/>
                <a:cs typeface="Aptos"/>
              </a:rPr>
              <a:t>UTXOpia | BTC privacy across Sui</a:t>
            </a:r>
          </a:p>
        </p:txBody>
      </p:sp>
    </p:spTree>
    <p:extLst>
      <p:ext uri="{BB962C8B-B14F-4D97-AF65-F5344CB8AC3E}">
        <p14:creationId xmlns:p14="http://schemas.microsoft.com/office/powerpoint/2010/main" val="1717030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C0CA5-AD67-44A1-9A71-11DA197F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C5127-AE40-474A-BEE3-F7DDFBF8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5978B-5B65-491D-97F5-640035E9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6EC3D-29A2-49B7-8655-71F8003B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38100" rIns="0" bIns="3810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2 / 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17C92-0AA7-4D1A-84FA-A145D7C4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rPr>
              <a:t>JoinSplit proves value conservation without exposing counterparties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0C03F-84C8-4A08-9B18-4410801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Inputs are consumed by nullifiers, outputs become fresh commitments, and Groth16 verification enforces consistency.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D5CD5-1F37-4D51-AC4C-315D6C78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BCA19-40EA-4700-B5EF-A8ADD1E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Private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ED881-A65A-4C77-A18F-BCC851F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existing notes</a:t>
            </a:r>
          </a:p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Merkle paths</a:t>
            </a:r>
          </a:p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spending signature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F1D8E-0E16-45FB-83AF-F9F6A21F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243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49629-75FA-4525-9328-767E58D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671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A5B7A-737A-4198-8225-028BC0A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7526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19050">
            <a:solidFill>
              <a:srgbClr val="FFB4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EE53A-65DC-4FA4-BA8F-F0735DB9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14700"/>
            <a:ext cx="1295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0">
            <a:solidFill>
              <a:srgbClr val="132923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JoinSplit</a:t>
            </a:r>
          </a:p>
          <a:p xmlns:a="http://schemas.openxmlformats.org/drawingml/2006/main">
            <a:pPr algn="ctr">
              <a:defRPr sz="1875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ZK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CB906-9C84-46F1-B531-422454E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100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0">
            <a:solidFill>
              <a:srgbClr val="132923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FF9"/>
                </a:solidFill>
                <a:latin typeface="Aptos"/>
                <a:ea typeface="Aptos"/>
                <a:cs typeface="Aptos"/>
              </a:rPr>
              <a:t>N in -&gt; M 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0D4F38-E516-40C4-9953-EA4CF828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6EEA7-3FE4-4235-A82E-6A415162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26BB7-EDCD-4F41-9F40-C5C4D99E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85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D5426-4AB2-4B75-8400-6742CECF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Fresh outputs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460AC-12ED-4BE9-9858-167F791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76200" tIns="57150" rIns="76200" bIns="57150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new commitments</a:t>
            </a:r>
          </a:p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new root</a:t>
            </a:r>
          </a:p>
          <a:p xmlns:a="http://schemas.openxmlformats.org/drawingml/2006/main">
            <a:pPr algn="ctr">
              <a:defRPr sz="12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stealth announcement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AEE4D-8ABB-4606-8216-3FCD111A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2EE59D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Checks: root membership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304076-31B9-4C3A-9DA9-A6A078A4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340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FFB45C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nullifier uniqueness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9FAD2-3E42-4E3F-B05F-9BC2BA3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6BC7FF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input = output + fee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90155-0219-4603-9443-7EE6EE9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23"/>
          </a:solidFill>
          <a:ln xmlns:a="http://schemas.openxmlformats.org/drawingml/2006/main" w="9525">
            <a:solidFill>
              <a:srgbClr val="2EE59D"/>
            </a:solidFill>
          </a:ln>
        </p:spPr>
        <p:txBody>
          <a:bodyPr xmlns:a="http://schemas.openxmlformats.org/drawingml/2006/main" lIns="95250" tIns="66675" rIns="95250" bIns="66675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no plaintext receiver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C2B12-4DC9-46B5-8583-5D08827A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1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57166"/>
                </a:solidFill>
                <a:latin typeface="Aptos"/>
                <a:ea typeface="Aptos"/>
                <a:cs typeface="Aptos"/>
              </a:rPr>
              <a:t>UTXOpia | BTC privacy across Sui</a:t>
            </a:r>
          </a:p>
        </p:txBody>
      </p:sp>
    </p:spTree>
    <p:extLst>
      <p:ext uri="{BB962C8B-B14F-4D97-AF65-F5344CB8AC3E}">
        <p14:creationId xmlns:p14="http://schemas.microsoft.com/office/powerpoint/2010/main" val="195430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5A9A8-E45C-4615-9712-E454E38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B0E17-6D7B-457D-ADFA-11C403C5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053CD-803A-47F1-8BBD-DA69EA5B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02DAD-21F4-4EE3-988D-3F55535B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38100" rIns="0" bIns="3810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3 / WITHDRAW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71CD7-7418-4583-AA7A-9B77CDCD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FF9"/>
                </a:solidFill>
                <a:latin typeface="Aptos Display"/>
                <a:ea typeface="Aptos Display"/>
                <a:cs typeface="Aptos Display"/>
              </a:rPr>
              <a:t>Withdrawal burns the private note after Ika signs the BTC tx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963FE-4B60-436D-B866-9FBDE04B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The exit path binds Bitcoin transaction generation, Ika custody signing, confirmation, and Sui-side completion.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D0681-6277-43BA-8084-1A8A648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CB96D-5574-4900-9498-29E1B20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B45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B45C"/>
                </a:solidFill>
                <a:latin typeface="Aptos"/>
                <a:ea typeface="Aptos"/>
                <a:cs typeface="Aptos"/>
              </a:rPr>
              <a:t>Burn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E5106-CACD-463C-8FC4-722E2867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User spends note privately and requests BTC withdrawal with destination and max fee.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62943-0CDD-48EF-9C8E-762C85E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719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A2AF4-292D-4B28-84B4-56776538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147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C1FF7-242B-4815-9BF5-AF554ABF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0F5D5-1696-4821-83CB-E47D0F27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718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Generate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4A057-160E-487F-B978-C5FB90C3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Relayer builds the unsigned BTC transaction from available pool UTXOs.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9A771-3ED2-4B71-BF2B-B5B4BEF0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719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704C2-1457-4121-8F15-D974911D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942E4-8DD4-429E-A0D0-5D32BF40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194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96B35-9E09-473B-802F-7EBA0467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7185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E59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EE59D"/>
                </a:solidFill>
                <a:latin typeface="Aptos"/>
                <a:ea typeface="Aptos"/>
                <a:cs typeface="Aptos"/>
              </a:rPr>
              <a:t>Ika signs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998AD-073A-44BD-8EB5-286C13E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14750"/>
            <a:ext cx="1752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Ika dWallet approves/signs the Taproot message under the configured policy.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3B6A7-2B46-4D0E-88CF-957CA8F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719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93CFF-5E64-408A-B366-9A325ED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1714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83B"/>
          </a:solidFill>
          <a:ln xmlns:a="http://schemas.openxmlformats.org/drawingml/2006/main" w="0">
            <a:solidFill>
              <a:srgbClr val="24483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33058-2C74-4F27-9E28-BF91199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1945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4FDC3-BE33-423D-8FC1-70A0FD5A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37185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C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BC7FF"/>
                </a:solidFill>
                <a:latin typeface="Aptos"/>
                <a:ea typeface="Aptos"/>
                <a:cs typeface="Aptos"/>
              </a:rPr>
              <a:t>Confirm + 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C91D8-3F17-461A-9B24-64E4860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14750"/>
            <a:ext cx="1276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After Bitcoin confirmation, Sui verifies block hash / tx evidence and finalizes.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FDF82-7E7D-40D2-85F0-BF3F1E39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00650"/>
            <a:ext cx="7810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9525">
            <a:solidFill>
              <a:srgbClr val="24483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57D40E-C4F4-4AB2-A394-43FF12DA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006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E59D"/>
          </a:solidFill>
          <a:ln xmlns:a="http://schemas.openxmlformats.org/drawingml/2006/main" w="0">
            <a:solidFill>
              <a:srgbClr val="2EE59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D9F6CC-282F-434A-A5DC-6BBEBDA5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62575"/>
            <a:ext cx="744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FF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FF9"/>
                </a:solidFill>
                <a:latin typeface="Aptos"/>
                <a:ea typeface="Aptos"/>
                <a:cs typeface="Aptos"/>
              </a:rPr>
              <a:t>Final state transition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716D0-A513-4DF5-B13F-B91974AD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53100"/>
            <a:ext cx="7448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1B"/>
          </a:solidFill>
          <a:ln xmlns:a="http://schemas.openxmlformats.org/drawingml/2006/main" w="0">
            <a:solidFill>
              <a:srgbClr val="0E211B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D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DB3"/>
                </a:solidFill>
                <a:latin typeface="Aptos"/>
                <a:ea typeface="Aptos"/>
                <a:cs typeface="Aptos"/>
              </a:rPr>
              <a:t>Nullifier prevents replay. Redemption queue marks complete. BTC leaves custody only through the proven, policy-approved transaction.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320B33-E91D-401A-8CCC-EC4EB63C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514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0D"/>
          </a:solidFill>
          <a:ln xmlns:a="http://schemas.openxmlformats.org/drawingml/2006/main" w="0">
            <a:solidFill>
              <a:srgbClr val="06100D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16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57166"/>
                </a:solidFill>
                <a:latin typeface="Aptos"/>
                <a:ea typeface="Aptos"/>
                <a:cs typeface="Aptos"/>
              </a:rPr>
              <a:t>UTXOpia | BTC privacy across Sui</a:t>
            </a:r>
          </a:p>
        </p:txBody>
      </p:sp>
    </p:spTree>
    <p:extLst>
      <p:ext uri="{BB962C8B-B14F-4D97-AF65-F5344CB8AC3E}">
        <p14:creationId xmlns:p14="http://schemas.microsoft.com/office/powerpoint/2010/main" val="16199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2026-05-31T05:37:21.5650000Z</dcterms:created>
  <dcterms:modified xsi:type="dcterms:W3CDTF">2026-05-31T05:37:21.5650000Z</dcterms:modified>
</coreProperties>
</file>